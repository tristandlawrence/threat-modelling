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1"/>
  </p:notesMasterIdLst>
  <p:handoutMasterIdLst>
    <p:handoutMasterId r:id="rId12"/>
  </p:handoutMasterIdLst>
  <p:sldIdLst>
    <p:sldId id="257" r:id="rId5"/>
    <p:sldId id="256" r:id="rId6"/>
    <p:sldId id="260" r:id="rId7"/>
    <p:sldId id="258" r:id="rId8"/>
    <p:sldId id="261" r:id="rId9"/>
    <p:sldId id="262" r:id="rId10"/>
  </p:sldIdLst>
  <p:sldSz cx="10691813" cy="7559675"/>
  <p:notesSz cx="6858000" cy="9144000"/>
  <p:defaultTextStyle>
    <a:defPPr>
      <a:defRPr lang="en-US"/>
    </a:defPPr>
    <a:lvl1pPr marL="0" algn="l" defTabSz="995507" rtl="0" eaLnBrk="1" latinLnBrk="0" hangingPunct="1">
      <a:defRPr sz="1960" kern="1200">
        <a:solidFill>
          <a:schemeClr val="tx1"/>
        </a:solidFill>
        <a:latin typeface="+mn-lt"/>
        <a:ea typeface="+mn-ea"/>
        <a:cs typeface="+mn-cs"/>
      </a:defRPr>
    </a:lvl1pPr>
    <a:lvl2pPr marL="497754" algn="l" defTabSz="995507" rtl="0" eaLnBrk="1" latinLnBrk="0" hangingPunct="1">
      <a:defRPr sz="1960" kern="1200">
        <a:solidFill>
          <a:schemeClr val="tx1"/>
        </a:solidFill>
        <a:latin typeface="+mn-lt"/>
        <a:ea typeface="+mn-ea"/>
        <a:cs typeface="+mn-cs"/>
      </a:defRPr>
    </a:lvl2pPr>
    <a:lvl3pPr marL="995507" algn="l" defTabSz="995507" rtl="0" eaLnBrk="1" latinLnBrk="0" hangingPunct="1">
      <a:defRPr sz="1960" kern="1200">
        <a:solidFill>
          <a:schemeClr val="tx1"/>
        </a:solidFill>
        <a:latin typeface="+mn-lt"/>
        <a:ea typeface="+mn-ea"/>
        <a:cs typeface="+mn-cs"/>
      </a:defRPr>
    </a:lvl3pPr>
    <a:lvl4pPr marL="1493261" algn="l" defTabSz="995507" rtl="0" eaLnBrk="1" latinLnBrk="0" hangingPunct="1">
      <a:defRPr sz="1960" kern="1200">
        <a:solidFill>
          <a:schemeClr val="tx1"/>
        </a:solidFill>
        <a:latin typeface="+mn-lt"/>
        <a:ea typeface="+mn-ea"/>
        <a:cs typeface="+mn-cs"/>
      </a:defRPr>
    </a:lvl4pPr>
    <a:lvl5pPr marL="1991015" algn="l" defTabSz="995507" rtl="0" eaLnBrk="1" latinLnBrk="0" hangingPunct="1">
      <a:defRPr sz="1960" kern="1200">
        <a:solidFill>
          <a:schemeClr val="tx1"/>
        </a:solidFill>
        <a:latin typeface="+mn-lt"/>
        <a:ea typeface="+mn-ea"/>
        <a:cs typeface="+mn-cs"/>
      </a:defRPr>
    </a:lvl5pPr>
    <a:lvl6pPr marL="2488768" algn="l" defTabSz="995507" rtl="0" eaLnBrk="1" latinLnBrk="0" hangingPunct="1">
      <a:defRPr sz="1960" kern="1200">
        <a:solidFill>
          <a:schemeClr val="tx1"/>
        </a:solidFill>
        <a:latin typeface="+mn-lt"/>
        <a:ea typeface="+mn-ea"/>
        <a:cs typeface="+mn-cs"/>
      </a:defRPr>
    </a:lvl6pPr>
    <a:lvl7pPr marL="2986522" algn="l" defTabSz="995507" rtl="0" eaLnBrk="1" latinLnBrk="0" hangingPunct="1">
      <a:defRPr sz="1960" kern="1200">
        <a:solidFill>
          <a:schemeClr val="tx1"/>
        </a:solidFill>
        <a:latin typeface="+mn-lt"/>
        <a:ea typeface="+mn-ea"/>
        <a:cs typeface="+mn-cs"/>
      </a:defRPr>
    </a:lvl7pPr>
    <a:lvl8pPr marL="3484275" algn="l" defTabSz="995507" rtl="0" eaLnBrk="1" latinLnBrk="0" hangingPunct="1">
      <a:defRPr sz="1960" kern="1200">
        <a:solidFill>
          <a:schemeClr val="tx1"/>
        </a:solidFill>
        <a:latin typeface="+mn-lt"/>
        <a:ea typeface="+mn-ea"/>
        <a:cs typeface="+mn-cs"/>
      </a:defRPr>
    </a:lvl8pPr>
    <a:lvl9pPr marL="3982029" algn="l" defTabSz="995507" rtl="0" eaLnBrk="1" latinLnBrk="0" hangingPunct="1">
      <a:defRPr sz="196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41"/>
    <p:restoredTop sz="94694"/>
  </p:normalViewPr>
  <p:slideViewPr>
    <p:cSldViewPr snapToGrid="0" snapToObjects="1">
      <p:cViewPr varScale="1">
        <p:scale>
          <a:sx n="87" d="100"/>
          <a:sy n="87" d="100"/>
        </p:scale>
        <p:origin x="1916" y="280"/>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1" d="100"/>
          <a:sy n="81" d="100"/>
        </p:scale>
        <p:origin x="4024"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BF877B-8B1D-9347-97DA-A1BA6505BB92}"/>
              </a:ext>
            </a:extLst>
          </p:cNvPr>
          <p:cNvSpPr>
            <a:spLocks noGrp="1"/>
          </p:cNvSpPr>
          <p:nvPr>
            <p:ph type="hdr" sz="quarter"/>
          </p:nvPr>
        </p:nvSpPr>
        <p:spPr>
          <a:xfrm>
            <a:off x="0" y="0"/>
            <a:ext cx="2921582" cy="49534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09ECF1B-9D0F-D242-927D-8596D96E93B2}"/>
              </a:ext>
            </a:extLst>
          </p:cNvPr>
          <p:cNvSpPr>
            <a:spLocks noGrp="1"/>
          </p:cNvSpPr>
          <p:nvPr>
            <p:ph type="dt" sz="quarter" idx="1"/>
          </p:nvPr>
        </p:nvSpPr>
        <p:spPr>
          <a:xfrm>
            <a:off x="3818971" y="0"/>
            <a:ext cx="2921582" cy="495348"/>
          </a:xfrm>
          <a:prstGeom prst="rect">
            <a:avLst/>
          </a:prstGeom>
        </p:spPr>
        <p:txBody>
          <a:bodyPr vert="horz" lIns="91440" tIns="45720" rIns="91440" bIns="45720" rtlCol="0"/>
          <a:lstStyle>
            <a:lvl1pPr algn="r">
              <a:defRPr sz="1200"/>
            </a:lvl1pPr>
          </a:lstStyle>
          <a:p>
            <a:fld id="{A398C337-7563-184B-8471-7BB9895B0A5A}" type="datetimeFigureOut">
              <a:rPr lang="en-GB" smtClean="0"/>
              <a:t>16/02/2026</a:t>
            </a:fld>
            <a:endParaRPr lang="en-GB"/>
          </a:p>
        </p:txBody>
      </p:sp>
      <p:sp>
        <p:nvSpPr>
          <p:cNvPr id="4" name="Footer Placeholder 3">
            <a:extLst>
              <a:ext uri="{FF2B5EF4-FFF2-40B4-BE49-F238E27FC236}">
                <a16:creationId xmlns:a16="http://schemas.microsoft.com/office/drawing/2014/main" id="{59B734AC-F418-AE44-89E8-3248D670A613}"/>
              </a:ext>
            </a:extLst>
          </p:cNvPr>
          <p:cNvSpPr>
            <a:spLocks noGrp="1"/>
          </p:cNvSpPr>
          <p:nvPr>
            <p:ph type="ftr" sz="quarter" idx="2"/>
          </p:nvPr>
        </p:nvSpPr>
        <p:spPr>
          <a:xfrm>
            <a:off x="0" y="9377317"/>
            <a:ext cx="2921582" cy="49534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376B339-0C27-6841-8B37-61C1960DC162}"/>
              </a:ext>
            </a:extLst>
          </p:cNvPr>
          <p:cNvSpPr>
            <a:spLocks noGrp="1"/>
          </p:cNvSpPr>
          <p:nvPr>
            <p:ph type="sldNum" sz="quarter" idx="3"/>
          </p:nvPr>
        </p:nvSpPr>
        <p:spPr>
          <a:xfrm>
            <a:off x="3818971" y="9377317"/>
            <a:ext cx="2921582" cy="495347"/>
          </a:xfrm>
          <a:prstGeom prst="rect">
            <a:avLst/>
          </a:prstGeom>
        </p:spPr>
        <p:txBody>
          <a:bodyPr vert="horz" lIns="91440" tIns="45720" rIns="91440" bIns="45720" rtlCol="0" anchor="b"/>
          <a:lstStyle>
            <a:lvl1pPr algn="r">
              <a:defRPr sz="1200"/>
            </a:lvl1pPr>
          </a:lstStyle>
          <a:p>
            <a:fld id="{5FA6B18F-66CD-E84B-894E-662B8BB704C3}" type="slidenum">
              <a:rPr lang="en-GB" smtClean="0"/>
              <a:t>‹#›</a:t>
            </a:fld>
            <a:endParaRPr lang="en-GB"/>
          </a:p>
        </p:txBody>
      </p:sp>
    </p:spTree>
    <p:extLst>
      <p:ext uri="{BB962C8B-B14F-4D97-AF65-F5344CB8AC3E}">
        <p14:creationId xmlns:p14="http://schemas.microsoft.com/office/powerpoint/2010/main" val="26831044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582" cy="49534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18971" y="0"/>
            <a:ext cx="2921582" cy="495348"/>
          </a:xfrm>
          <a:prstGeom prst="rect">
            <a:avLst/>
          </a:prstGeom>
        </p:spPr>
        <p:txBody>
          <a:bodyPr vert="horz" lIns="91440" tIns="45720" rIns="91440" bIns="45720" rtlCol="0"/>
          <a:lstStyle>
            <a:lvl1pPr algn="r">
              <a:defRPr sz="1200"/>
            </a:lvl1pPr>
          </a:lstStyle>
          <a:p>
            <a:fld id="{CBE6B6FE-8E70-1B44-BFBC-6AEC29B16BFE}" type="datetimeFigureOut">
              <a:rPr lang="en-GB" smtClean="0"/>
              <a:t>16/02/2026</a:t>
            </a:fld>
            <a:endParaRPr lang="en-GB"/>
          </a:p>
        </p:txBody>
      </p:sp>
      <p:sp>
        <p:nvSpPr>
          <p:cNvPr id="4" name="Slide Image Placeholder 3"/>
          <p:cNvSpPr>
            <a:spLocks noGrp="1" noRot="1" noChangeAspect="1"/>
          </p:cNvSpPr>
          <p:nvPr>
            <p:ph type="sldImg" idx="2"/>
          </p:nvPr>
        </p:nvSpPr>
        <p:spPr>
          <a:xfrm>
            <a:off x="1016000" y="1233488"/>
            <a:ext cx="4710113" cy="333216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4212" y="4751219"/>
            <a:ext cx="5393690" cy="388736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77317"/>
            <a:ext cx="2921582" cy="49534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18971" y="9377317"/>
            <a:ext cx="2921582" cy="495347"/>
          </a:xfrm>
          <a:prstGeom prst="rect">
            <a:avLst/>
          </a:prstGeom>
        </p:spPr>
        <p:txBody>
          <a:bodyPr vert="horz" lIns="91440" tIns="45720" rIns="91440" bIns="45720" rtlCol="0" anchor="b"/>
          <a:lstStyle>
            <a:lvl1pPr algn="r">
              <a:defRPr sz="1200"/>
            </a:lvl1pPr>
          </a:lstStyle>
          <a:p>
            <a:fld id="{BF2C540F-4756-3E41-A3E4-D5BE9C9F7DB6}" type="slidenum">
              <a:rPr lang="en-GB" smtClean="0"/>
              <a:t>‹#›</a:t>
            </a:fld>
            <a:endParaRPr lang="en-GB"/>
          </a:p>
        </p:txBody>
      </p:sp>
    </p:spTree>
    <p:extLst>
      <p:ext uri="{BB962C8B-B14F-4D97-AF65-F5344CB8AC3E}">
        <p14:creationId xmlns:p14="http://schemas.microsoft.com/office/powerpoint/2010/main" val="3725170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p:spPr>
        <p:txBody>
          <a:bodyPr anchor="b"/>
          <a:lstStyle>
            <a:lvl1pPr algn="ctr">
              <a:defRPr sz="6614"/>
            </a:lvl1pPr>
          </a:lstStyle>
          <a:p>
            <a:r>
              <a:rPr lang="en-US"/>
              <a:t>Click to edit Master title style</a:t>
            </a:r>
            <a:endParaRPr lang="en-US" dirty="0"/>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9DA6B0-F008-8142-B0C8-8906A97F2A69}"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242526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9DA6B0-F008-8142-B0C8-8906A97F2A69}"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3381967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p:spPr>
        <p:txBody>
          <a:bodyPr anchor="b"/>
          <a:lstStyle>
            <a:lvl1pPr>
              <a:defRPr sz="6614"/>
            </a:lvl1pPr>
          </a:lstStyle>
          <a:p>
            <a:r>
              <a:rPr lang="en-US"/>
              <a:t>Click to edit Master title style</a:t>
            </a:r>
            <a:endParaRPr lang="en-US" dirty="0"/>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9DA6B0-F008-8142-B0C8-8906A97F2A69}"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3868851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35062" y="2012414"/>
            <a:ext cx="4544021" cy="47965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12730" y="2012414"/>
            <a:ext cx="4544021" cy="47965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9DA6B0-F008-8142-B0C8-8906A97F2A69}" type="datetimeFigureOut">
              <a:rPr lang="en-GB" smtClean="0"/>
              <a:t>16/02/2026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3580469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402484"/>
            <a:ext cx="9221689" cy="14611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Edit Master text styles</a:t>
            </a:r>
          </a:p>
        </p:txBody>
      </p:sp>
      <p:sp>
        <p:nvSpPr>
          <p:cNvPr id="4" name="Content Placeholder 3"/>
          <p:cNvSpPr>
            <a:spLocks noGrp="1"/>
          </p:cNvSpPr>
          <p:nvPr>
            <p:ph sz="half" idx="2"/>
          </p:nvPr>
        </p:nvSpPr>
        <p:spPr>
          <a:xfrm>
            <a:off x="736456" y="2761381"/>
            <a:ext cx="4523137" cy="40615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Edit Master text styles</a:t>
            </a:r>
          </a:p>
        </p:txBody>
      </p:sp>
      <p:sp>
        <p:nvSpPr>
          <p:cNvPr id="6" name="Content Placeholder 5"/>
          <p:cNvSpPr>
            <a:spLocks noGrp="1"/>
          </p:cNvSpPr>
          <p:nvPr>
            <p:ph sz="quarter" idx="4"/>
          </p:nvPr>
        </p:nvSpPr>
        <p:spPr>
          <a:xfrm>
            <a:off x="5412731" y="2761381"/>
            <a:ext cx="4545413" cy="40615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9DA6B0-F008-8142-B0C8-8906A97F2A69}" type="datetimeFigureOut">
              <a:rPr lang="en-GB" smtClean="0"/>
              <a:t>16/02/2026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3429405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9DA6B0-F008-8142-B0C8-8906A97F2A69}" type="datetimeFigureOut">
              <a:rPr lang="en-GB" smtClean="0"/>
              <a:t>16/02/2026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3244752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9DA6B0-F008-8142-B0C8-8906A97F2A69}" type="datetimeFigureOut">
              <a:rPr lang="en-GB" smtClean="0"/>
              <a:t>16/02/2026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989764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en-US"/>
              <a:t>Click to edit Master title style</a:t>
            </a:r>
            <a:endParaRPr lang="en-US" dirty="0"/>
          </a:p>
        </p:txBody>
      </p:sp>
      <p:sp>
        <p:nvSpPr>
          <p:cNvPr id="3" name="Content Placeholder 2"/>
          <p:cNvSpPr>
            <a:spLocks noGrp="1"/>
          </p:cNvSpPr>
          <p:nvPr>
            <p:ph idx="1"/>
          </p:nvPr>
        </p:nvSpPr>
        <p:spPr>
          <a:xfrm>
            <a:off x="4545413" y="1088455"/>
            <a:ext cx="5412730" cy="5372269"/>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Edit Master text styles</a:t>
            </a:r>
          </a:p>
        </p:txBody>
      </p:sp>
      <p:sp>
        <p:nvSpPr>
          <p:cNvPr id="5" name="Date Placeholder 4"/>
          <p:cNvSpPr>
            <a:spLocks noGrp="1"/>
          </p:cNvSpPr>
          <p:nvPr>
            <p:ph type="dt" sz="half" idx="10"/>
          </p:nvPr>
        </p:nvSpPr>
        <p:spPr/>
        <p:txBody>
          <a:bodyPr/>
          <a:lstStyle/>
          <a:p>
            <a:fld id="{AC9DA6B0-F008-8142-B0C8-8906A97F2A69}" type="datetimeFigureOut">
              <a:rPr lang="en-GB" smtClean="0"/>
              <a:t>16/02/2026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304353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5413" y="1088455"/>
            <a:ext cx="5412730" cy="5372269"/>
          </a:xfrm>
        </p:spPr>
        <p:txBody>
          <a:bodyPr anchor="t"/>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en-US"/>
              <a:t>Click icon to add picture</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Edit Master text styles</a:t>
            </a:r>
          </a:p>
        </p:txBody>
      </p:sp>
      <p:sp>
        <p:nvSpPr>
          <p:cNvPr id="5" name="Date Placeholder 4"/>
          <p:cNvSpPr>
            <a:spLocks noGrp="1"/>
          </p:cNvSpPr>
          <p:nvPr>
            <p:ph type="dt" sz="half" idx="10"/>
          </p:nvPr>
        </p:nvSpPr>
        <p:spPr/>
        <p:txBody>
          <a:bodyPr/>
          <a:lstStyle/>
          <a:p>
            <a:fld id="{AC9DA6B0-F008-8142-B0C8-8906A97F2A69}" type="datetimeFigureOut">
              <a:rPr lang="en-GB" smtClean="0"/>
              <a:t>16/02/2026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3071078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9DA6B0-F008-8142-B0C8-8906A97F2A69}"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3220953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35063" y="402483"/>
            <a:ext cx="6782619" cy="64064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9DA6B0-F008-8142-B0C8-8906A97F2A69}"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28AD8F-ACDB-7444-9291-7C6BB80D88E1}" type="slidenum">
              <a:rPr lang="en-GB" smtClean="0"/>
              <a:t>‹#›</a:t>
            </a:fld>
            <a:endParaRPr lang="en-GB"/>
          </a:p>
        </p:txBody>
      </p:sp>
    </p:spTree>
    <p:extLst>
      <p:ext uri="{BB962C8B-B14F-4D97-AF65-F5344CB8AC3E}">
        <p14:creationId xmlns:p14="http://schemas.microsoft.com/office/powerpoint/2010/main" val="633909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AC9DA6B0-F008-8142-B0C8-8906A97F2A69}" type="datetimeFigureOut">
              <a:rPr lang="en-GB" smtClean="0"/>
              <a:t>16/02/2026</a:t>
            </a:fld>
            <a:endParaRPr lang="en-GB"/>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A328AD8F-ACDB-7444-9291-7C6BB80D88E1}" type="slidenum">
              <a:rPr lang="en-GB" smtClean="0"/>
              <a:t>‹#›</a:t>
            </a:fld>
            <a:endParaRPr lang="en-GB"/>
          </a:p>
        </p:txBody>
      </p:sp>
    </p:spTree>
    <p:extLst>
      <p:ext uri="{BB962C8B-B14F-4D97-AF65-F5344CB8AC3E}">
        <p14:creationId xmlns:p14="http://schemas.microsoft.com/office/powerpoint/2010/main" val="5639780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1D863B0-1635-B94D-B246-02B6817A3747}"/>
              </a:ext>
            </a:extLst>
          </p:cNvPr>
          <p:cNvSpPr txBox="1"/>
          <p:nvPr/>
        </p:nvSpPr>
        <p:spPr>
          <a:xfrm>
            <a:off x="0" y="4042417"/>
            <a:ext cx="5333536" cy="830997"/>
          </a:xfrm>
          <a:prstGeom prst="rect">
            <a:avLst/>
          </a:prstGeom>
          <a:noFill/>
        </p:spPr>
        <p:txBody>
          <a:bodyPr wrap="square" rtlCol="0">
            <a:spAutoFit/>
          </a:bodyPr>
          <a:lstStyle/>
          <a:p>
            <a:pPr algn="ctr"/>
            <a:r>
              <a:rPr lang="en-GB" sz="4800" dirty="0">
                <a:latin typeface="Phosphate Solid" panose="02000506050000020004"/>
                <a:cs typeface="Phosphate Solid" panose="02000506050000020004" pitchFamily="2" charset="77"/>
              </a:rPr>
              <a:t>Criminal</a:t>
            </a:r>
            <a:endParaRPr lang="en-GB" sz="1200" dirty="0">
              <a:latin typeface="Phosphate Solid" panose="02000506050000020004"/>
              <a:cs typeface="Phosphate Solid" panose="02000506050000020004" pitchFamily="2" charset="77"/>
            </a:endParaRPr>
          </a:p>
        </p:txBody>
      </p:sp>
      <p:sp>
        <p:nvSpPr>
          <p:cNvPr id="14" name="TextBox 13">
            <a:extLst>
              <a:ext uri="{FF2B5EF4-FFF2-40B4-BE49-F238E27FC236}">
                <a16:creationId xmlns:a16="http://schemas.microsoft.com/office/drawing/2014/main" id="{5B6408B1-49C0-7D4B-A457-FBCD57B2A3FC}"/>
              </a:ext>
            </a:extLst>
          </p:cNvPr>
          <p:cNvSpPr txBox="1"/>
          <p:nvPr/>
        </p:nvSpPr>
        <p:spPr>
          <a:xfrm>
            <a:off x="5333536" y="4042417"/>
            <a:ext cx="5333536" cy="830997"/>
          </a:xfrm>
          <a:prstGeom prst="rect">
            <a:avLst/>
          </a:prstGeom>
          <a:noFill/>
        </p:spPr>
        <p:txBody>
          <a:bodyPr wrap="square" rtlCol="0">
            <a:spAutoFit/>
          </a:bodyPr>
          <a:lstStyle/>
          <a:p>
            <a:pPr algn="ctr"/>
            <a:r>
              <a:rPr lang="en-GB" sz="4800" dirty="0">
                <a:latin typeface="Phosphate Solid" panose="02000506050000020004"/>
                <a:cs typeface="Phosphate Solid" panose="02000506050000020004" pitchFamily="2" charset="77"/>
              </a:rPr>
              <a:t>Script Kiddie</a:t>
            </a:r>
            <a:endParaRPr lang="en-GB" sz="1200" dirty="0">
              <a:latin typeface="Phosphate Solid" panose="02000506050000020004"/>
              <a:cs typeface="Phosphate Solid" panose="02000506050000020004" pitchFamily="2" charset="77"/>
            </a:endParaRPr>
          </a:p>
        </p:txBody>
      </p:sp>
      <p:pic>
        <p:nvPicPr>
          <p:cNvPr id="3" name="Picture 2">
            <a:extLst>
              <a:ext uri="{FF2B5EF4-FFF2-40B4-BE49-F238E27FC236}">
                <a16:creationId xmlns:a16="http://schemas.microsoft.com/office/drawing/2014/main" id="{9C6F2162-EB1D-1E4A-98E3-902DE69F7208}"/>
              </a:ext>
            </a:extLst>
          </p:cNvPr>
          <p:cNvPicPr>
            <a:picLocks noChangeAspect="1"/>
          </p:cNvPicPr>
          <p:nvPr/>
        </p:nvPicPr>
        <p:blipFill>
          <a:blip r:embed="rId2"/>
          <a:stretch>
            <a:fillRect/>
          </a:stretch>
        </p:blipFill>
        <p:spPr>
          <a:xfrm>
            <a:off x="1099384" y="4469197"/>
            <a:ext cx="3145070" cy="3145070"/>
          </a:xfrm>
          <a:prstGeom prst="rect">
            <a:avLst/>
          </a:prstGeom>
        </p:spPr>
      </p:pic>
      <p:pic>
        <p:nvPicPr>
          <p:cNvPr id="5" name="Picture 4">
            <a:extLst>
              <a:ext uri="{FF2B5EF4-FFF2-40B4-BE49-F238E27FC236}">
                <a16:creationId xmlns:a16="http://schemas.microsoft.com/office/drawing/2014/main" id="{C88A0E20-CB2C-FA47-94AF-FEF48F080C57}"/>
              </a:ext>
            </a:extLst>
          </p:cNvPr>
          <p:cNvPicPr>
            <a:picLocks noChangeAspect="1"/>
          </p:cNvPicPr>
          <p:nvPr/>
        </p:nvPicPr>
        <p:blipFill>
          <a:blip r:embed="rId3"/>
          <a:stretch>
            <a:fillRect/>
          </a:stretch>
        </p:blipFill>
        <p:spPr>
          <a:xfrm>
            <a:off x="6432920" y="4567393"/>
            <a:ext cx="3046874" cy="3046874"/>
          </a:xfrm>
          <a:prstGeom prst="rect">
            <a:avLst/>
          </a:prstGeom>
        </p:spPr>
      </p:pic>
      <p:sp>
        <p:nvSpPr>
          <p:cNvPr id="21" name="TextBox 20">
            <a:extLst>
              <a:ext uri="{FF2B5EF4-FFF2-40B4-BE49-F238E27FC236}">
                <a16:creationId xmlns:a16="http://schemas.microsoft.com/office/drawing/2014/main" id="{41D9E3C0-218D-C445-9DF0-D30381FA39FF}"/>
              </a:ext>
            </a:extLst>
          </p:cNvPr>
          <p:cNvSpPr txBox="1"/>
          <p:nvPr/>
        </p:nvSpPr>
        <p:spPr>
          <a:xfrm>
            <a:off x="24742" y="246265"/>
            <a:ext cx="5333536" cy="830997"/>
          </a:xfrm>
          <a:prstGeom prst="rect">
            <a:avLst/>
          </a:prstGeom>
          <a:noFill/>
        </p:spPr>
        <p:txBody>
          <a:bodyPr wrap="square" rtlCol="0">
            <a:spAutoFit/>
          </a:bodyPr>
          <a:lstStyle/>
          <a:p>
            <a:pPr algn="ctr"/>
            <a:r>
              <a:rPr lang="en-GB" sz="4800" dirty="0">
                <a:latin typeface="Phosphate Solid" panose="02000506050000020004"/>
                <a:cs typeface="Phosphate Solid" panose="02000506050000020004" pitchFamily="2" charset="77"/>
              </a:rPr>
              <a:t>Nation State</a:t>
            </a:r>
            <a:endParaRPr lang="en-GB" sz="1200" dirty="0">
              <a:latin typeface="Phosphate Solid" panose="02000506050000020004"/>
              <a:cs typeface="Phosphate Solid" panose="02000506050000020004" pitchFamily="2" charset="77"/>
            </a:endParaRPr>
          </a:p>
        </p:txBody>
      </p:sp>
      <p:sp>
        <p:nvSpPr>
          <p:cNvPr id="22" name="TextBox 21">
            <a:extLst>
              <a:ext uri="{FF2B5EF4-FFF2-40B4-BE49-F238E27FC236}">
                <a16:creationId xmlns:a16="http://schemas.microsoft.com/office/drawing/2014/main" id="{27C6B159-947C-B949-8259-BB5D008F894D}"/>
              </a:ext>
            </a:extLst>
          </p:cNvPr>
          <p:cNvSpPr txBox="1"/>
          <p:nvPr/>
        </p:nvSpPr>
        <p:spPr>
          <a:xfrm>
            <a:off x="5358278" y="246265"/>
            <a:ext cx="5333536" cy="830997"/>
          </a:xfrm>
          <a:prstGeom prst="rect">
            <a:avLst/>
          </a:prstGeom>
          <a:noFill/>
        </p:spPr>
        <p:txBody>
          <a:bodyPr wrap="square" rtlCol="0">
            <a:spAutoFit/>
          </a:bodyPr>
          <a:lstStyle/>
          <a:p>
            <a:pPr algn="ctr"/>
            <a:r>
              <a:rPr lang="en-GB" sz="4800" dirty="0">
                <a:latin typeface="Phosphate Solid" panose="02000506050000020004"/>
                <a:cs typeface="Phosphate Solid" panose="02000506050000020004" pitchFamily="2" charset="77"/>
              </a:rPr>
              <a:t>Organised Crime</a:t>
            </a:r>
            <a:endParaRPr lang="en-GB" sz="1200" dirty="0">
              <a:latin typeface="Phosphate Solid" panose="02000506050000020004"/>
              <a:cs typeface="Phosphate Solid" panose="02000506050000020004" pitchFamily="2" charset="77"/>
            </a:endParaRPr>
          </a:p>
        </p:txBody>
      </p:sp>
      <p:pic>
        <p:nvPicPr>
          <p:cNvPr id="23" name="Picture 22">
            <a:extLst>
              <a:ext uri="{FF2B5EF4-FFF2-40B4-BE49-F238E27FC236}">
                <a16:creationId xmlns:a16="http://schemas.microsoft.com/office/drawing/2014/main" id="{80F7D879-F5AB-4042-81F2-4381173437D3}"/>
              </a:ext>
            </a:extLst>
          </p:cNvPr>
          <p:cNvPicPr>
            <a:picLocks noChangeAspect="1"/>
          </p:cNvPicPr>
          <p:nvPr/>
        </p:nvPicPr>
        <p:blipFill>
          <a:blip r:embed="rId4"/>
          <a:stretch>
            <a:fillRect/>
          </a:stretch>
        </p:blipFill>
        <p:spPr>
          <a:xfrm>
            <a:off x="1544649" y="1318773"/>
            <a:ext cx="2328762" cy="2328762"/>
          </a:xfrm>
          <a:prstGeom prst="rect">
            <a:avLst/>
          </a:prstGeom>
        </p:spPr>
      </p:pic>
      <p:pic>
        <p:nvPicPr>
          <p:cNvPr id="24" name="Picture 23">
            <a:extLst>
              <a:ext uri="{FF2B5EF4-FFF2-40B4-BE49-F238E27FC236}">
                <a16:creationId xmlns:a16="http://schemas.microsoft.com/office/drawing/2014/main" id="{9CB1D396-9EA2-BE44-86BA-F85287193056}"/>
              </a:ext>
            </a:extLst>
          </p:cNvPr>
          <p:cNvPicPr>
            <a:picLocks noChangeAspect="1"/>
          </p:cNvPicPr>
          <p:nvPr/>
        </p:nvPicPr>
        <p:blipFill>
          <a:blip r:embed="rId5"/>
          <a:stretch>
            <a:fillRect/>
          </a:stretch>
        </p:blipFill>
        <p:spPr>
          <a:xfrm>
            <a:off x="6555858" y="1008815"/>
            <a:ext cx="2948678" cy="2948678"/>
          </a:xfrm>
          <a:prstGeom prst="rect">
            <a:avLst/>
          </a:prstGeom>
        </p:spPr>
      </p:pic>
      <p:cxnSp>
        <p:nvCxnSpPr>
          <p:cNvPr id="13" name="Straight Connector 12">
            <a:extLst>
              <a:ext uri="{FF2B5EF4-FFF2-40B4-BE49-F238E27FC236}">
                <a16:creationId xmlns:a16="http://schemas.microsoft.com/office/drawing/2014/main" id="{6819A4A5-7F44-EA46-B747-1F5ABEBB1D6F}"/>
              </a:ext>
            </a:extLst>
          </p:cNvPr>
          <p:cNvCxnSpPr>
            <a:cxnSpLocks/>
          </p:cNvCxnSpPr>
          <p:nvPr/>
        </p:nvCxnSpPr>
        <p:spPr>
          <a:xfrm>
            <a:off x="5333536" y="0"/>
            <a:ext cx="0" cy="7559675"/>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282F503-3D21-C44E-910D-0AAFD40E10ED}"/>
              </a:ext>
            </a:extLst>
          </p:cNvPr>
          <p:cNvCxnSpPr>
            <a:cxnSpLocks/>
          </p:cNvCxnSpPr>
          <p:nvPr/>
        </p:nvCxnSpPr>
        <p:spPr>
          <a:xfrm>
            <a:off x="0" y="3780000"/>
            <a:ext cx="10691813" cy="0"/>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426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E57C51C9-6C4E-2A4D-8EDA-A6F43C428375}"/>
              </a:ext>
            </a:extLst>
          </p:cNvPr>
          <p:cNvSpPr txBox="1"/>
          <p:nvPr/>
        </p:nvSpPr>
        <p:spPr>
          <a:xfrm>
            <a:off x="5321167" y="354921"/>
            <a:ext cx="5333536" cy="3681686"/>
          </a:xfrm>
          <a:prstGeom prst="rect">
            <a:avLst/>
          </a:prstGeom>
          <a:noFill/>
        </p:spPr>
        <p:txBody>
          <a:bodyPr wrap="square" lIns="360000" tIns="360000" rIns="360000" bIns="360000" rtlCol="0">
            <a:spAutoFit/>
          </a:bodyPr>
          <a:lstStyle/>
          <a:p>
            <a:r>
              <a:rPr lang="en-GB" sz="1600" dirty="0"/>
              <a:t>You’re interested in doing damage to Australia, or its economy as a whole. You have lots of resources (time, money, skills) at your disposal, but tread carefully – don’t cause an international incident!</a:t>
            </a:r>
          </a:p>
          <a:p>
            <a:endParaRPr lang="en-GB" sz="1600" dirty="0"/>
          </a:p>
          <a:p>
            <a:endParaRPr lang="en-GB" sz="1600" dirty="0"/>
          </a:p>
          <a:p>
            <a:r>
              <a:rPr lang="en-GB" sz="1600" b="1" dirty="0"/>
              <a:t>You want to:</a:t>
            </a:r>
            <a:endParaRPr lang="en-GB" sz="1600" i="1" dirty="0"/>
          </a:p>
          <a:p>
            <a:pPr marL="342900" indent="-342900">
              <a:buFont typeface="Arial" panose="020B0604020202020204" pitchFamily="34" charset="0"/>
              <a:buChar char="•"/>
            </a:pPr>
            <a:r>
              <a:rPr lang="en-GB" sz="1600" dirty="0"/>
              <a:t>Damage the economy</a:t>
            </a:r>
          </a:p>
          <a:p>
            <a:pPr marL="342900" indent="-342900">
              <a:buFont typeface="Arial" panose="020B0604020202020204" pitchFamily="34" charset="0"/>
              <a:buChar char="•"/>
            </a:pPr>
            <a:r>
              <a:rPr lang="en-GB" sz="1600" dirty="0"/>
              <a:t>Disrupt infrastructure</a:t>
            </a:r>
          </a:p>
          <a:p>
            <a:pPr marL="342900" indent="-342900">
              <a:buFont typeface="Arial" panose="020B0604020202020204" pitchFamily="34" charset="0"/>
              <a:buChar char="•"/>
            </a:pPr>
            <a:r>
              <a:rPr lang="en-GB" sz="1600" dirty="0"/>
              <a:t>Undermine institutions</a:t>
            </a:r>
          </a:p>
          <a:p>
            <a:pPr marL="342900" indent="-342900">
              <a:buFont typeface="Arial" panose="020B0604020202020204" pitchFamily="34" charset="0"/>
              <a:buChar char="•"/>
            </a:pPr>
            <a:r>
              <a:rPr lang="en-GB" sz="1600" dirty="0"/>
              <a:t>Support your own country’s industry</a:t>
            </a:r>
          </a:p>
          <a:p>
            <a:pPr marL="342900" indent="-342900">
              <a:buFont typeface="Arial" panose="020B0604020202020204" pitchFamily="34" charset="0"/>
              <a:buChar char="•"/>
            </a:pPr>
            <a:r>
              <a:rPr lang="en-GB" sz="1600" dirty="0"/>
              <a:t>Remain undetected</a:t>
            </a:r>
          </a:p>
        </p:txBody>
      </p:sp>
      <p:sp>
        <p:nvSpPr>
          <p:cNvPr id="19" name="TextBox 18">
            <a:extLst>
              <a:ext uri="{FF2B5EF4-FFF2-40B4-BE49-F238E27FC236}">
                <a16:creationId xmlns:a16="http://schemas.microsoft.com/office/drawing/2014/main" id="{A06D160A-FDBA-944D-83DA-0A67333C856A}"/>
              </a:ext>
            </a:extLst>
          </p:cNvPr>
          <p:cNvSpPr txBox="1"/>
          <p:nvPr/>
        </p:nvSpPr>
        <p:spPr>
          <a:xfrm>
            <a:off x="-12369" y="411594"/>
            <a:ext cx="5333536" cy="3189244"/>
          </a:xfrm>
          <a:prstGeom prst="rect">
            <a:avLst/>
          </a:prstGeom>
          <a:noFill/>
        </p:spPr>
        <p:txBody>
          <a:bodyPr wrap="square" lIns="360000" tIns="360000" rIns="360000" bIns="360000" rtlCol="0">
            <a:spAutoFit/>
          </a:bodyPr>
          <a:lstStyle/>
          <a:p>
            <a:r>
              <a:rPr lang="en-GB" sz="1600" dirty="0"/>
              <a:t>You run a large organisation and you need money.  You specialise in blackmailing the rich and powerful, money laundering, and committing mass fraud.  Remaining undetected means you can continue your operations indefinitely.</a:t>
            </a:r>
          </a:p>
          <a:p>
            <a:endParaRPr lang="en-GB" sz="1600" dirty="0"/>
          </a:p>
          <a:p>
            <a:r>
              <a:rPr lang="en-GB" sz="1600" b="1" dirty="0"/>
              <a:t>You want to:</a:t>
            </a:r>
          </a:p>
          <a:p>
            <a:pPr marL="342900" indent="-342900">
              <a:buFont typeface="Arial" panose="020B0604020202020204" pitchFamily="34" charset="0"/>
              <a:buChar char="•"/>
            </a:pPr>
            <a:r>
              <a:rPr lang="en-GB" sz="1600" dirty="0"/>
              <a:t>Acquire large quantities of money</a:t>
            </a:r>
          </a:p>
          <a:p>
            <a:pPr marL="342900" indent="-342900">
              <a:buFont typeface="Arial" panose="020B0604020202020204" pitchFamily="34" charset="0"/>
              <a:buChar char="•"/>
            </a:pPr>
            <a:r>
              <a:rPr lang="en-GB" sz="1600" dirty="0"/>
              <a:t>Gain blackmail material</a:t>
            </a:r>
          </a:p>
          <a:p>
            <a:pPr marL="342900" indent="-342900">
              <a:buFont typeface="Arial" panose="020B0604020202020204" pitchFamily="34" charset="0"/>
              <a:buChar char="•"/>
            </a:pPr>
            <a:r>
              <a:rPr lang="en-GB" sz="1600" dirty="0"/>
              <a:t>Remain undetected</a:t>
            </a:r>
          </a:p>
        </p:txBody>
      </p:sp>
      <p:sp>
        <p:nvSpPr>
          <p:cNvPr id="10" name="TextBox 9">
            <a:extLst>
              <a:ext uri="{FF2B5EF4-FFF2-40B4-BE49-F238E27FC236}">
                <a16:creationId xmlns:a16="http://schemas.microsoft.com/office/drawing/2014/main" id="{69D4E5DB-650E-6C4A-B8F8-2CF09BCFA083}"/>
              </a:ext>
            </a:extLst>
          </p:cNvPr>
          <p:cNvSpPr txBox="1"/>
          <p:nvPr/>
        </p:nvSpPr>
        <p:spPr>
          <a:xfrm>
            <a:off x="5333072" y="4123883"/>
            <a:ext cx="5333536" cy="3435465"/>
          </a:xfrm>
          <a:prstGeom prst="rect">
            <a:avLst/>
          </a:prstGeom>
          <a:noFill/>
        </p:spPr>
        <p:txBody>
          <a:bodyPr wrap="square" lIns="360000" tIns="360000" rIns="360000" bIns="360000" rtlCol="0">
            <a:spAutoFit/>
          </a:bodyPr>
          <a:lstStyle/>
          <a:p>
            <a:r>
              <a:rPr lang="en-GB" sz="1600" dirty="0"/>
              <a:t>You’re interested in financial gain, and go after the easiest targets.  You are opportunistic and driven by greed.  You only work with people you trust, if at all.</a:t>
            </a:r>
          </a:p>
          <a:p>
            <a:endParaRPr lang="en-GB" sz="1600" dirty="0"/>
          </a:p>
          <a:p>
            <a:endParaRPr lang="en-GB" sz="1600" dirty="0"/>
          </a:p>
          <a:p>
            <a:endParaRPr lang="en-GB" sz="1600" dirty="0"/>
          </a:p>
          <a:p>
            <a:r>
              <a:rPr lang="en-GB" sz="1600" b="1" dirty="0"/>
              <a:t>You want to:</a:t>
            </a:r>
          </a:p>
          <a:p>
            <a:pPr marL="342900" indent="-342900">
              <a:buFont typeface="Arial" panose="020B0604020202020204" pitchFamily="34" charset="0"/>
              <a:buChar char="•"/>
            </a:pPr>
            <a:r>
              <a:rPr lang="en-GB" sz="1600" dirty="0"/>
              <a:t>Get in</a:t>
            </a:r>
          </a:p>
          <a:p>
            <a:pPr marL="342900" indent="-342900">
              <a:buFont typeface="Arial" panose="020B0604020202020204" pitchFamily="34" charset="0"/>
              <a:buChar char="•"/>
            </a:pPr>
            <a:r>
              <a:rPr lang="en-GB" sz="1600" dirty="0"/>
              <a:t>Get rich</a:t>
            </a:r>
          </a:p>
          <a:p>
            <a:pPr marL="342900" indent="-342900">
              <a:buFont typeface="Arial" panose="020B0604020202020204" pitchFamily="34" charset="0"/>
              <a:buChar char="•"/>
            </a:pPr>
            <a:r>
              <a:rPr lang="en-GB" sz="1600" dirty="0"/>
              <a:t>Get out </a:t>
            </a:r>
          </a:p>
          <a:p>
            <a:pPr marL="342900" indent="-342900">
              <a:buFont typeface="Arial" panose="020B0604020202020204" pitchFamily="34" charset="0"/>
              <a:buChar char="•"/>
            </a:pPr>
            <a:r>
              <a:rPr lang="en-GB" sz="1600" dirty="0"/>
              <a:t>(No, </a:t>
            </a:r>
            <a:r>
              <a:rPr lang="en-GB" sz="1600" b="1" i="1" dirty="0"/>
              <a:t>don’t</a:t>
            </a:r>
            <a:r>
              <a:rPr lang="en-GB" sz="1600" dirty="0"/>
              <a:t> get arrested)</a:t>
            </a:r>
          </a:p>
        </p:txBody>
      </p:sp>
      <p:sp>
        <p:nvSpPr>
          <p:cNvPr id="11" name="TextBox 10">
            <a:extLst>
              <a:ext uri="{FF2B5EF4-FFF2-40B4-BE49-F238E27FC236}">
                <a16:creationId xmlns:a16="http://schemas.microsoft.com/office/drawing/2014/main" id="{AA354EF0-1DD8-4048-B27A-3F8A9163F7E4}"/>
              </a:ext>
            </a:extLst>
          </p:cNvPr>
          <p:cNvSpPr txBox="1"/>
          <p:nvPr/>
        </p:nvSpPr>
        <p:spPr>
          <a:xfrm>
            <a:off x="0" y="4123883"/>
            <a:ext cx="5333536" cy="3435465"/>
          </a:xfrm>
          <a:prstGeom prst="rect">
            <a:avLst/>
          </a:prstGeom>
          <a:noFill/>
        </p:spPr>
        <p:txBody>
          <a:bodyPr wrap="square" lIns="360000" tIns="360000" rIns="360000" bIns="360000" rtlCol="0">
            <a:spAutoFit/>
          </a:bodyPr>
          <a:lstStyle/>
          <a:p>
            <a:r>
              <a:rPr lang="en-GB" sz="1600" dirty="0"/>
              <a:t>You’re bored.  You want to impress your friends, learn about tools, or you might just want to break stuff. You make little to no effort to cover your tracks, and may want to be known as the culprit.  Be indiscriminate.</a:t>
            </a:r>
          </a:p>
          <a:p>
            <a:endParaRPr lang="en-GB" sz="1600" dirty="0"/>
          </a:p>
          <a:p>
            <a:endParaRPr lang="en-GB" sz="1600" dirty="0"/>
          </a:p>
          <a:p>
            <a:r>
              <a:rPr lang="en-GB" sz="1600" b="1" dirty="0"/>
              <a:t>You want to:</a:t>
            </a:r>
          </a:p>
          <a:p>
            <a:pPr marL="342900" indent="-342900">
              <a:buFont typeface="Arial" panose="020B0604020202020204" pitchFamily="34" charset="0"/>
              <a:buChar char="•"/>
            </a:pPr>
            <a:r>
              <a:rPr lang="en-GB" sz="1600" dirty="0"/>
              <a:t>Cause chaos</a:t>
            </a:r>
          </a:p>
          <a:p>
            <a:pPr marL="342900" indent="-342900">
              <a:buFont typeface="Arial" panose="020B0604020202020204" pitchFamily="34" charset="0"/>
              <a:buChar char="•"/>
            </a:pPr>
            <a:r>
              <a:rPr lang="en-GB" sz="1600" dirty="0"/>
              <a:t>Gain hacker kudos</a:t>
            </a:r>
          </a:p>
          <a:p>
            <a:pPr marL="342900" indent="-342900">
              <a:buFont typeface="Arial" panose="020B0604020202020204" pitchFamily="34" charset="0"/>
              <a:buChar char="•"/>
            </a:pPr>
            <a:r>
              <a:rPr lang="en-GB" sz="1600" dirty="0"/>
              <a:t>Do damage for the sake of damage</a:t>
            </a:r>
          </a:p>
          <a:p>
            <a:pPr marL="342900" indent="-342900">
              <a:buFont typeface="Arial" panose="020B0604020202020204" pitchFamily="34" charset="0"/>
              <a:buChar char="•"/>
            </a:pPr>
            <a:r>
              <a:rPr lang="en-GB" sz="1600" dirty="0"/>
              <a:t>Experiment and learn</a:t>
            </a:r>
          </a:p>
        </p:txBody>
      </p:sp>
      <p:cxnSp>
        <p:nvCxnSpPr>
          <p:cNvPr id="15" name="Straight Connector 14">
            <a:extLst>
              <a:ext uri="{FF2B5EF4-FFF2-40B4-BE49-F238E27FC236}">
                <a16:creationId xmlns:a16="http://schemas.microsoft.com/office/drawing/2014/main" id="{BE1E05B1-6B11-AD41-B422-749B43224357}"/>
              </a:ext>
            </a:extLst>
          </p:cNvPr>
          <p:cNvCxnSpPr>
            <a:cxnSpLocks/>
          </p:cNvCxnSpPr>
          <p:nvPr/>
        </p:nvCxnSpPr>
        <p:spPr>
          <a:xfrm>
            <a:off x="5333536" y="0"/>
            <a:ext cx="0" cy="7559675"/>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2BF3A39-615D-B14E-B710-762631063368}"/>
              </a:ext>
            </a:extLst>
          </p:cNvPr>
          <p:cNvCxnSpPr>
            <a:cxnSpLocks/>
          </p:cNvCxnSpPr>
          <p:nvPr/>
        </p:nvCxnSpPr>
        <p:spPr>
          <a:xfrm>
            <a:off x="0" y="3780000"/>
            <a:ext cx="10691813" cy="0"/>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90880EA-D0F9-A94D-8ADF-64D0520A0B4C}"/>
              </a:ext>
            </a:extLst>
          </p:cNvPr>
          <p:cNvSpPr txBox="1"/>
          <p:nvPr/>
        </p:nvSpPr>
        <p:spPr>
          <a:xfrm>
            <a:off x="5345905" y="3831475"/>
            <a:ext cx="5333537"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Criminal</a:t>
            </a:r>
            <a:endParaRPr lang="en-GB" sz="1000" dirty="0">
              <a:latin typeface="Phosphate Solid" panose="02000506050000020004"/>
              <a:cs typeface="Phosphate Solid" panose="02000506050000020004" pitchFamily="2" charset="77"/>
            </a:endParaRPr>
          </a:p>
        </p:txBody>
      </p:sp>
      <p:sp>
        <p:nvSpPr>
          <p:cNvPr id="9" name="TextBox 8">
            <a:extLst>
              <a:ext uri="{FF2B5EF4-FFF2-40B4-BE49-F238E27FC236}">
                <a16:creationId xmlns:a16="http://schemas.microsoft.com/office/drawing/2014/main" id="{3A146625-C11A-3741-871A-3027BF627B5A}"/>
              </a:ext>
            </a:extLst>
          </p:cNvPr>
          <p:cNvSpPr txBox="1"/>
          <p:nvPr/>
        </p:nvSpPr>
        <p:spPr>
          <a:xfrm>
            <a:off x="-465" y="3834592"/>
            <a:ext cx="5333537"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Script Kiddie</a:t>
            </a:r>
            <a:endParaRPr lang="en-GB" sz="1000" dirty="0">
              <a:latin typeface="Phosphate Solid" panose="02000506050000020004"/>
              <a:cs typeface="Phosphate Solid" panose="02000506050000020004" pitchFamily="2" charset="77"/>
            </a:endParaRPr>
          </a:p>
        </p:txBody>
      </p:sp>
      <p:sp>
        <p:nvSpPr>
          <p:cNvPr id="12" name="TextBox 11">
            <a:extLst>
              <a:ext uri="{FF2B5EF4-FFF2-40B4-BE49-F238E27FC236}">
                <a16:creationId xmlns:a16="http://schemas.microsoft.com/office/drawing/2014/main" id="{3828F93E-058E-DB49-B73F-4FCECC937A2C}"/>
              </a:ext>
            </a:extLst>
          </p:cNvPr>
          <p:cNvSpPr txBox="1"/>
          <p:nvPr/>
        </p:nvSpPr>
        <p:spPr>
          <a:xfrm>
            <a:off x="5370414" y="31756"/>
            <a:ext cx="5333537"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Nation State</a:t>
            </a:r>
            <a:endParaRPr lang="en-GB" sz="1000" dirty="0">
              <a:latin typeface="Phosphate Solid" panose="02000506050000020004"/>
              <a:cs typeface="Phosphate Solid" panose="02000506050000020004" pitchFamily="2" charset="77"/>
            </a:endParaRPr>
          </a:p>
        </p:txBody>
      </p:sp>
      <p:sp>
        <p:nvSpPr>
          <p:cNvPr id="14" name="TextBox 13">
            <a:extLst>
              <a:ext uri="{FF2B5EF4-FFF2-40B4-BE49-F238E27FC236}">
                <a16:creationId xmlns:a16="http://schemas.microsoft.com/office/drawing/2014/main" id="{85E2797B-AA50-D841-8412-8620CF532ABF}"/>
              </a:ext>
            </a:extLst>
          </p:cNvPr>
          <p:cNvSpPr txBox="1"/>
          <p:nvPr/>
        </p:nvSpPr>
        <p:spPr>
          <a:xfrm>
            <a:off x="37110" y="24307"/>
            <a:ext cx="5333537"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Organised Crime</a:t>
            </a:r>
            <a:endParaRPr lang="en-GB" sz="1000" dirty="0">
              <a:latin typeface="Phosphate Solid" panose="02000506050000020004"/>
              <a:cs typeface="Phosphate Solid" panose="02000506050000020004" pitchFamily="2" charset="77"/>
            </a:endParaRPr>
          </a:p>
        </p:txBody>
      </p:sp>
    </p:spTree>
    <p:extLst>
      <p:ext uri="{BB962C8B-B14F-4D97-AF65-F5344CB8AC3E}">
        <p14:creationId xmlns:p14="http://schemas.microsoft.com/office/powerpoint/2010/main" val="3326598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074B29-29E3-2E40-B637-80856D3BA378}"/>
              </a:ext>
            </a:extLst>
          </p:cNvPr>
          <p:cNvSpPr txBox="1"/>
          <p:nvPr/>
        </p:nvSpPr>
        <p:spPr>
          <a:xfrm>
            <a:off x="0" y="246380"/>
            <a:ext cx="5333536" cy="830997"/>
          </a:xfrm>
          <a:prstGeom prst="rect">
            <a:avLst/>
          </a:prstGeom>
          <a:noFill/>
        </p:spPr>
        <p:txBody>
          <a:bodyPr wrap="square" rtlCol="0">
            <a:spAutoFit/>
          </a:bodyPr>
          <a:lstStyle/>
          <a:p>
            <a:pPr algn="ctr"/>
            <a:r>
              <a:rPr lang="en-GB" sz="4800" dirty="0">
                <a:latin typeface="Phosphate Solid" panose="02000506050000020004"/>
                <a:cs typeface="Phosphate Solid" panose="02000506050000020004" pitchFamily="2" charset="77"/>
              </a:rPr>
              <a:t>Bot</a:t>
            </a:r>
            <a:endParaRPr lang="en-GB" sz="1200" dirty="0">
              <a:latin typeface="Phosphate Solid" panose="02000506050000020004"/>
              <a:cs typeface="Phosphate Solid" panose="02000506050000020004" pitchFamily="2" charset="77"/>
            </a:endParaRPr>
          </a:p>
        </p:txBody>
      </p:sp>
      <p:sp>
        <p:nvSpPr>
          <p:cNvPr id="5" name="TextBox 4">
            <a:extLst>
              <a:ext uri="{FF2B5EF4-FFF2-40B4-BE49-F238E27FC236}">
                <a16:creationId xmlns:a16="http://schemas.microsoft.com/office/drawing/2014/main" id="{82233735-618B-2144-ABE5-D9D9D7E6D1F3}"/>
              </a:ext>
            </a:extLst>
          </p:cNvPr>
          <p:cNvSpPr txBox="1"/>
          <p:nvPr/>
        </p:nvSpPr>
        <p:spPr>
          <a:xfrm>
            <a:off x="5333536" y="246380"/>
            <a:ext cx="5333536" cy="830997"/>
          </a:xfrm>
          <a:prstGeom prst="rect">
            <a:avLst/>
          </a:prstGeom>
          <a:noFill/>
        </p:spPr>
        <p:txBody>
          <a:bodyPr wrap="square" rtlCol="0">
            <a:spAutoFit/>
          </a:bodyPr>
          <a:lstStyle/>
          <a:p>
            <a:pPr algn="ctr"/>
            <a:r>
              <a:rPr lang="en-GB" sz="4800" dirty="0">
                <a:latin typeface="Phosphate Solid" panose="02000506050000020004"/>
                <a:cs typeface="Phosphate Solid" panose="02000506050000020004" pitchFamily="2" charset="77"/>
              </a:rPr>
              <a:t>Customer</a:t>
            </a:r>
            <a:endParaRPr lang="en-GB" sz="1200" dirty="0">
              <a:latin typeface="Phosphate Solid" panose="02000506050000020004"/>
              <a:cs typeface="Phosphate Solid" panose="02000506050000020004" pitchFamily="2" charset="77"/>
            </a:endParaRPr>
          </a:p>
        </p:txBody>
      </p:sp>
      <p:pic>
        <p:nvPicPr>
          <p:cNvPr id="6" name="Picture 5">
            <a:extLst>
              <a:ext uri="{FF2B5EF4-FFF2-40B4-BE49-F238E27FC236}">
                <a16:creationId xmlns:a16="http://schemas.microsoft.com/office/drawing/2014/main" id="{80822924-E953-F84E-823E-FD348796451A}"/>
              </a:ext>
            </a:extLst>
          </p:cNvPr>
          <p:cNvPicPr>
            <a:picLocks noChangeAspect="1"/>
          </p:cNvPicPr>
          <p:nvPr/>
        </p:nvPicPr>
        <p:blipFill>
          <a:blip r:embed="rId2"/>
          <a:stretch>
            <a:fillRect/>
          </a:stretch>
        </p:blipFill>
        <p:spPr>
          <a:xfrm>
            <a:off x="1528550" y="1256771"/>
            <a:ext cx="2286738" cy="2286738"/>
          </a:xfrm>
          <a:prstGeom prst="rect">
            <a:avLst/>
          </a:prstGeom>
        </p:spPr>
      </p:pic>
      <p:pic>
        <p:nvPicPr>
          <p:cNvPr id="7" name="Picture 6">
            <a:extLst>
              <a:ext uri="{FF2B5EF4-FFF2-40B4-BE49-F238E27FC236}">
                <a16:creationId xmlns:a16="http://schemas.microsoft.com/office/drawing/2014/main" id="{4AC6E3E7-4DA2-0C4D-A29C-61F9643EA8D0}"/>
              </a:ext>
            </a:extLst>
          </p:cNvPr>
          <p:cNvPicPr>
            <a:picLocks noChangeAspect="1"/>
          </p:cNvPicPr>
          <p:nvPr/>
        </p:nvPicPr>
        <p:blipFill>
          <a:blip r:embed="rId3"/>
          <a:stretch>
            <a:fillRect/>
          </a:stretch>
        </p:blipFill>
        <p:spPr>
          <a:xfrm>
            <a:off x="6808289" y="1256772"/>
            <a:ext cx="2395918" cy="2395918"/>
          </a:xfrm>
          <a:prstGeom prst="rect">
            <a:avLst/>
          </a:prstGeom>
        </p:spPr>
      </p:pic>
      <p:cxnSp>
        <p:nvCxnSpPr>
          <p:cNvPr id="8" name="Straight Connector 7">
            <a:extLst>
              <a:ext uri="{FF2B5EF4-FFF2-40B4-BE49-F238E27FC236}">
                <a16:creationId xmlns:a16="http://schemas.microsoft.com/office/drawing/2014/main" id="{A5438556-2001-BA4D-B158-5057440340D4}"/>
              </a:ext>
            </a:extLst>
          </p:cNvPr>
          <p:cNvCxnSpPr>
            <a:cxnSpLocks/>
          </p:cNvCxnSpPr>
          <p:nvPr/>
        </p:nvCxnSpPr>
        <p:spPr>
          <a:xfrm>
            <a:off x="5333536" y="0"/>
            <a:ext cx="0" cy="7559675"/>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8FD287A-E42E-3B47-8F0D-0DDBC6FFD405}"/>
              </a:ext>
            </a:extLst>
          </p:cNvPr>
          <p:cNvCxnSpPr>
            <a:cxnSpLocks/>
          </p:cNvCxnSpPr>
          <p:nvPr/>
        </p:nvCxnSpPr>
        <p:spPr>
          <a:xfrm>
            <a:off x="0" y="3780000"/>
            <a:ext cx="10691813" cy="0"/>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50FD6B6-5C4C-024D-8382-BB1A9AC53733}"/>
              </a:ext>
            </a:extLst>
          </p:cNvPr>
          <p:cNvSpPr txBox="1"/>
          <p:nvPr/>
        </p:nvSpPr>
        <p:spPr>
          <a:xfrm>
            <a:off x="0" y="4056272"/>
            <a:ext cx="5333536" cy="830997"/>
          </a:xfrm>
          <a:prstGeom prst="rect">
            <a:avLst/>
          </a:prstGeom>
          <a:noFill/>
        </p:spPr>
        <p:txBody>
          <a:bodyPr wrap="square" rtlCol="0">
            <a:spAutoFit/>
          </a:bodyPr>
          <a:lstStyle/>
          <a:p>
            <a:pPr algn="ctr"/>
            <a:r>
              <a:rPr lang="en-GB" sz="4800" dirty="0">
                <a:latin typeface="Phosphate Solid" panose="02000506050000020004"/>
                <a:cs typeface="Phosphate Solid" panose="02000506050000020004" pitchFamily="2" charset="77"/>
              </a:rPr>
              <a:t>Developer</a:t>
            </a:r>
            <a:endParaRPr lang="en-GB" sz="1200" dirty="0">
              <a:latin typeface="Phosphate Solid" panose="02000506050000020004"/>
              <a:cs typeface="Phosphate Solid" panose="02000506050000020004" pitchFamily="2" charset="77"/>
            </a:endParaRPr>
          </a:p>
        </p:txBody>
      </p:sp>
      <p:sp>
        <p:nvSpPr>
          <p:cNvPr id="11" name="TextBox 10">
            <a:extLst>
              <a:ext uri="{FF2B5EF4-FFF2-40B4-BE49-F238E27FC236}">
                <a16:creationId xmlns:a16="http://schemas.microsoft.com/office/drawing/2014/main" id="{3CDA0A71-AB08-0544-A42A-D1D87FDE34F3}"/>
              </a:ext>
            </a:extLst>
          </p:cNvPr>
          <p:cNvSpPr txBox="1"/>
          <p:nvPr/>
        </p:nvSpPr>
        <p:spPr>
          <a:xfrm>
            <a:off x="5333536" y="4056272"/>
            <a:ext cx="5333536" cy="1200329"/>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Ideologically</a:t>
            </a:r>
          </a:p>
          <a:p>
            <a:pPr algn="ctr"/>
            <a:r>
              <a:rPr lang="en-GB" sz="3600" dirty="0">
                <a:latin typeface="Phosphate Solid" panose="02000506050000020004"/>
                <a:cs typeface="Phosphate Solid" panose="02000506050000020004" pitchFamily="2" charset="77"/>
              </a:rPr>
              <a:t>Motivated Actor</a:t>
            </a:r>
            <a:endParaRPr lang="en-GB" sz="1000" dirty="0">
              <a:latin typeface="Phosphate Solid" panose="02000506050000020004"/>
              <a:cs typeface="Phosphate Solid" panose="02000506050000020004" pitchFamily="2" charset="77"/>
            </a:endParaRPr>
          </a:p>
        </p:txBody>
      </p:sp>
      <p:pic>
        <p:nvPicPr>
          <p:cNvPr id="12" name="Picture 11">
            <a:extLst>
              <a:ext uri="{FF2B5EF4-FFF2-40B4-BE49-F238E27FC236}">
                <a16:creationId xmlns:a16="http://schemas.microsoft.com/office/drawing/2014/main" id="{78FD494C-F1B0-2347-A942-616B83337290}"/>
              </a:ext>
            </a:extLst>
          </p:cNvPr>
          <p:cNvPicPr>
            <a:picLocks noChangeAspect="1"/>
          </p:cNvPicPr>
          <p:nvPr/>
        </p:nvPicPr>
        <p:blipFill>
          <a:blip r:embed="rId4"/>
          <a:stretch>
            <a:fillRect/>
          </a:stretch>
        </p:blipFill>
        <p:spPr>
          <a:xfrm>
            <a:off x="1473958" y="4941967"/>
            <a:ext cx="2395922" cy="2395922"/>
          </a:xfrm>
          <a:prstGeom prst="rect">
            <a:avLst/>
          </a:prstGeom>
        </p:spPr>
      </p:pic>
      <p:pic>
        <p:nvPicPr>
          <p:cNvPr id="13" name="Picture 12">
            <a:extLst>
              <a:ext uri="{FF2B5EF4-FFF2-40B4-BE49-F238E27FC236}">
                <a16:creationId xmlns:a16="http://schemas.microsoft.com/office/drawing/2014/main" id="{0D03249E-20B7-C246-B104-819963BE05D4}"/>
              </a:ext>
            </a:extLst>
          </p:cNvPr>
          <p:cNvPicPr>
            <a:picLocks noChangeAspect="1"/>
          </p:cNvPicPr>
          <p:nvPr/>
        </p:nvPicPr>
        <p:blipFill>
          <a:blip r:embed="rId5"/>
          <a:stretch>
            <a:fillRect/>
          </a:stretch>
        </p:blipFill>
        <p:spPr>
          <a:xfrm>
            <a:off x="7096836" y="5393830"/>
            <a:ext cx="1806936" cy="1806936"/>
          </a:xfrm>
          <a:prstGeom prst="rect">
            <a:avLst/>
          </a:prstGeom>
        </p:spPr>
      </p:pic>
    </p:spTree>
    <p:extLst>
      <p:ext uri="{BB962C8B-B14F-4D97-AF65-F5344CB8AC3E}">
        <p14:creationId xmlns:p14="http://schemas.microsoft.com/office/powerpoint/2010/main" val="1749035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A06D160A-FDBA-944D-83DA-0A67333C856A}"/>
              </a:ext>
            </a:extLst>
          </p:cNvPr>
          <p:cNvSpPr txBox="1"/>
          <p:nvPr/>
        </p:nvSpPr>
        <p:spPr>
          <a:xfrm>
            <a:off x="-37110" y="460581"/>
            <a:ext cx="5333536" cy="2943023"/>
          </a:xfrm>
          <a:prstGeom prst="rect">
            <a:avLst/>
          </a:prstGeom>
          <a:noFill/>
        </p:spPr>
        <p:txBody>
          <a:bodyPr wrap="square" lIns="360000" tIns="360000" rIns="360000" bIns="360000" rtlCol="0">
            <a:spAutoFit/>
          </a:bodyPr>
          <a:lstStyle/>
          <a:p>
            <a:r>
              <a:rPr lang="en-GB" sz="1600" dirty="0"/>
              <a:t>You have a job to do, and you’ll be damned if you’re going to let some ‘internet system’ get in your way.  You just need access to all of your ledgers, and you’re ready to click on just about anything to get what you want.  </a:t>
            </a:r>
          </a:p>
          <a:p>
            <a:endParaRPr lang="en-GB" sz="1600" dirty="0"/>
          </a:p>
          <a:p>
            <a:endParaRPr lang="en-GB" sz="1600" dirty="0"/>
          </a:p>
          <a:p>
            <a:r>
              <a:rPr lang="en-GB" sz="1600" b="1" dirty="0"/>
              <a:t>You want to:</a:t>
            </a:r>
          </a:p>
          <a:p>
            <a:pPr marL="342900" indent="-342900">
              <a:buFont typeface="Arial" panose="020B0604020202020204" pitchFamily="34" charset="0"/>
              <a:buChar char="•"/>
            </a:pPr>
            <a:r>
              <a:rPr lang="en-GB" sz="1600" dirty="0"/>
              <a:t>Be productive</a:t>
            </a:r>
          </a:p>
          <a:p>
            <a:pPr marL="342900" indent="-342900">
              <a:buFont typeface="Arial" panose="020B0604020202020204" pitchFamily="34" charset="0"/>
              <a:buChar char="•"/>
            </a:pPr>
            <a:r>
              <a:rPr lang="en-GB" sz="1600" dirty="0"/>
              <a:t>Have an easy business life</a:t>
            </a:r>
          </a:p>
        </p:txBody>
      </p:sp>
      <p:cxnSp>
        <p:nvCxnSpPr>
          <p:cNvPr id="15" name="Straight Connector 14">
            <a:extLst>
              <a:ext uri="{FF2B5EF4-FFF2-40B4-BE49-F238E27FC236}">
                <a16:creationId xmlns:a16="http://schemas.microsoft.com/office/drawing/2014/main" id="{D4110720-82F2-5747-8540-DBE1035F1945}"/>
              </a:ext>
            </a:extLst>
          </p:cNvPr>
          <p:cNvCxnSpPr>
            <a:cxnSpLocks/>
          </p:cNvCxnSpPr>
          <p:nvPr/>
        </p:nvCxnSpPr>
        <p:spPr>
          <a:xfrm>
            <a:off x="5333536" y="0"/>
            <a:ext cx="0" cy="7559675"/>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B9395A6-6B40-AC44-B6F7-FF3798161DE3}"/>
              </a:ext>
            </a:extLst>
          </p:cNvPr>
          <p:cNvCxnSpPr>
            <a:cxnSpLocks/>
          </p:cNvCxnSpPr>
          <p:nvPr/>
        </p:nvCxnSpPr>
        <p:spPr>
          <a:xfrm>
            <a:off x="0" y="3780000"/>
            <a:ext cx="10691813" cy="0"/>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27DE530-1017-BA46-B111-7C34D967BD7B}"/>
              </a:ext>
            </a:extLst>
          </p:cNvPr>
          <p:cNvSpPr txBox="1"/>
          <p:nvPr/>
        </p:nvSpPr>
        <p:spPr>
          <a:xfrm>
            <a:off x="0" y="4463622"/>
            <a:ext cx="5333536" cy="2943023"/>
          </a:xfrm>
          <a:prstGeom prst="rect">
            <a:avLst/>
          </a:prstGeom>
          <a:noFill/>
        </p:spPr>
        <p:txBody>
          <a:bodyPr wrap="square" lIns="360000" tIns="360000" rIns="360000" bIns="360000" rtlCol="0">
            <a:spAutoFit/>
          </a:bodyPr>
          <a:lstStyle/>
          <a:p>
            <a:endParaRPr lang="en-GB" sz="1600" dirty="0"/>
          </a:p>
          <a:p>
            <a:r>
              <a:rPr lang="en-GB" sz="1600" dirty="0"/>
              <a:t>The world is broken, and nobody else has noticed.  You have a mission, and you won’t let anything stand in your way.  You know </a:t>
            </a:r>
            <a:r>
              <a:rPr lang="en-GB" sz="1600" b="1" i="1" dirty="0"/>
              <a:t>exactly</a:t>
            </a:r>
            <a:r>
              <a:rPr lang="en-GB" sz="1600" dirty="0"/>
              <a:t> how to get their attention</a:t>
            </a:r>
          </a:p>
          <a:p>
            <a:endParaRPr lang="en-GB" sz="1600" dirty="0"/>
          </a:p>
          <a:p>
            <a:r>
              <a:rPr lang="en-GB" sz="1600" b="1" dirty="0"/>
              <a:t>You want to:</a:t>
            </a:r>
          </a:p>
          <a:p>
            <a:pPr marL="342900" indent="-342900">
              <a:buFont typeface="Arial" panose="020B0604020202020204" pitchFamily="34" charset="0"/>
              <a:buChar char="•"/>
            </a:pPr>
            <a:r>
              <a:rPr lang="en-GB" sz="1600" dirty="0"/>
              <a:t>Get publicity</a:t>
            </a:r>
          </a:p>
          <a:p>
            <a:pPr marL="342900" indent="-342900">
              <a:buFont typeface="Arial" panose="020B0604020202020204" pitchFamily="34" charset="0"/>
              <a:buChar char="•"/>
            </a:pPr>
            <a:r>
              <a:rPr lang="en-GB" sz="1600" dirty="0"/>
              <a:t>Undermine those who oppose you</a:t>
            </a:r>
          </a:p>
          <a:p>
            <a:pPr marL="342900" indent="-342900">
              <a:buFont typeface="Arial" panose="020B0604020202020204" pitchFamily="34" charset="0"/>
              <a:buChar char="•"/>
            </a:pPr>
            <a:r>
              <a:rPr lang="en-GB" sz="1600" dirty="0"/>
              <a:t>Work with your team</a:t>
            </a:r>
          </a:p>
        </p:txBody>
      </p:sp>
      <p:sp>
        <p:nvSpPr>
          <p:cNvPr id="17" name="TextBox 16">
            <a:extLst>
              <a:ext uri="{FF2B5EF4-FFF2-40B4-BE49-F238E27FC236}">
                <a16:creationId xmlns:a16="http://schemas.microsoft.com/office/drawing/2014/main" id="{C95D4E60-2AB6-6347-953D-EC63DAFD9B45}"/>
              </a:ext>
            </a:extLst>
          </p:cNvPr>
          <p:cNvSpPr txBox="1"/>
          <p:nvPr/>
        </p:nvSpPr>
        <p:spPr>
          <a:xfrm>
            <a:off x="5370647" y="460581"/>
            <a:ext cx="5333536" cy="3189244"/>
          </a:xfrm>
          <a:prstGeom prst="rect">
            <a:avLst/>
          </a:prstGeom>
          <a:noFill/>
        </p:spPr>
        <p:txBody>
          <a:bodyPr wrap="square" lIns="360000" tIns="360000" rIns="360000" bIns="360000" rtlCol="0">
            <a:spAutoFit/>
          </a:bodyPr>
          <a:lstStyle/>
          <a:p>
            <a:r>
              <a:rPr lang="en-GB" sz="1600" dirty="0"/>
              <a:t>Like a call centre employee on their first day, you can’t deviate from your scripting.  You may leave yourself entry points for future use, or you might just be on a journey of discovery.  If you notice you have been caught, you may delete yourself.</a:t>
            </a:r>
          </a:p>
          <a:p>
            <a:endParaRPr lang="en-GB" sz="1600" dirty="0"/>
          </a:p>
          <a:p>
            <a:r>
              <a:rPr lang="en-GB" sz="1600" b="1" dirty="0"/>
              <a:t>You want to:</a:t>
            </a:r>
          </a:p>
          <a:p>
            <a:pPr marL="342900" indent="-342900">
              <a:buFont typeface="Arial" panose="020B0604020202020204" pitchFamily="34" charset="0"/>
              <a:buChar char="•"/>
            </a:pPr>
            <a:r>
              <a:rPr lang="en-GB" sz="1600" dirty="0"/>
              <a:t>Gather information about systems</a:t>
            </a:r>
          </a:p>
          <a:p>
            <a:pPr marL="342900" indent="-342900">
              <a:buFont typeface="Arial" panose="020B0604020202020204" pitchFamily="34" charset="0"/>
              <a:buChar char="•"/>
            </a:pPr>
            <a:r>
              <a:rPr lang="en-GB" sz="1600" dirty="0"/>
              <a:t>Attack low-hanging fruit</a:t>
            </a:r>
          </a:p>
          <a:p>
            <a:pPr marL="342900" indent="-342900">
              <a:buFont typeface="Arial" panose="020B0604020202020204" pitchFamily="34" charset="0"/>
              <a:buChar char="•"/>
            </a:pPr>
            <a:r>
              <a:rPr lang="en-GB" sz="1600" dirty="0"/>
              <a:t>Leave backdoors</a:t>
            </a:r>
          </a:p>
        </p:txBody>
      </p:sp>
      <p:sp>
        <p:nvSpPr>
          <p:cNvPr id="18" name="TextBox 17">
            <a:extLst>
              <a:ext uri="{FF2B5EF4-FFF2-40B4-BE49-F238E27FC236}">
                <a16:creationId xmlns:a16="http://schemas.microsoft.com/office/drawing/2014/main" id="{73104D5E-89C3-534D-9BD3-327828C0C18A}"/>
              </a:ext>
            </a:extLst>
          </p:cNvPr>
          <p:cNvSpPr txBox="1"/>
          <p:nvPr/>
        </p:nvSpPr>
        <p:spPr>
          <a:xfrm>
            <a:off x="5370647" y="4258320"/>
            <a:ext cx="5333536" cy="3189244"/>
          </a:xfrm>
          <a:prstGeom prst="rect">
            <a:avLst/>
          </a:prstGeom>
          <a:noFill/>
        </p:spPr>
        <p:txBody>
          <a:bodyPr wrap="square" lIns="360000" tIns="360000" rIns="360000" bIns="360000" rtlCol="0">
            <a:spAutoFit/>
          </a:bodyPr>
          <a:lstStyle/>
          <a:p>
            <a:r>
              <a:rPr lang="en-GB" sz="1600" dirty="0"/>
              <a:t>It’s 4:00pm on a Friday.  You just need to figure out what’s causing problems.  Your manager keeps lurking over your shoulder, eager to have the problem fixed.  You already have access to the system – Will anybody even notice if you just…</a:t>
            </a:r>
          </a:p>
          <a:p>
            <a:endParaRPr lang="en-GB" sz="1600" dirty="0"/>
          </a:p>
          <a:p>
            <a:r>
              <a:rPr lang="en-GB" sz="1600" b="1" dirty="0"/>
              <a:t>You want to:</a:t>
            </a:r>
          </a:p>
          <a:p>
            <a:pPr marL="342900" indent="-342900">
              <a:buFont typeface="Arial" panose="020B0604020202020204" pitchFamily="34" charset="0"/>
              <a:buChar char="•"/>
            </a:pPr>
            <a:r>
              <a:rPr lang="en-GB" sz="1600" dirty="0"/>
              <a:t>Get your job done</a:t>
            </a:r>
          </a:p>
          <a:p>
            <a:pPr marL="342900" indent="-342900">
              <a:buFont typeface="Arial" panose="020B0604020202020204" pitchFamily="34" charset="0"/>
              <a:buChar char="•"/>
            </a:pPr>
            <a:r>
              <a:rPr lang="en-GB" sz="1600" dirty="0"/>
              <a:t>Be free to work without constraints</a:t>
            </a:r>
          </a:p>
          <a:p>
            <a:pPr marL="342900" indent="-342900">
              <a:buFont typeface="Arial" panose="020B0604020202020204" pitchFamily="34" charset="0"/>
              <a:buChar char="•"/>
            </a:pPr>
            <a:endParaRPr lang="en-GB" sz="1600" dirty="0"/>
          </a:p>
        </p:txBody>
      </p:sp>
      <p:sp>
        <p:nvSpPr>
          <p:cNvPr id="8" name="TextBox 7">
            <a:extLst>
              <a:ext uri="{FF2B5EF4-FFF2-40B4-BE49-F238E27FC236}">
                <a16:creationId xmlns:a16="http://schemas.microsoft.com/office/drawing/2014/main" id="{3410299D-F4AF-1D44-9180-5CF17558C10A}"/>
              </a:ext>
            </a:extLst>
          </p:cNvPr>
          <p:cNvSpPr txBox="1"/>
          <p:nvPr/>
        </p:nvSpPr>
        <p:spPr>
          <a:xfrm>
            <a:off x="5334003" y="-3948"/>
            <a:ext cx="5333536"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Bot</a:t>
            </a:r>
          </a:p>
        </p:txBody>
      </p:sp>
      <p:sp>
        <p:nvSpPr>
          <p:cNvPr id="9" name="TextBox 8">
            <a:extLst>
              <a:ext uri="{FF2B5EF4-FFF2-40B4-BE49-F238E27FC236}">
                <a16:creationId xmlns:a16="http://schemas.microsoft.com/office/drawing/2014/main" id="{85FE5860-D05B-1E4E-A2B6-D4A27280C83E}"/>
              </a:ext>
            </a:extLst>
          </p:cNvPr>
          <p:cNvSpPr txBox="1"/>
          <p:nvPr/>
        </p:nvSpPr>
        <p:spPr>
          <a:xfrm>
            <a:off x="24274" y="6490"/>
            <a:ext cx="5333536"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Customer</a:t>
            </a:r>
          </a:p>
        </p:txBody>
      </p:sp>
      <p:sp>
        <p:nvSpPr>
          <p:cNvPr id="11" name="TextBox 10">
            <a:extLst>
              <a:ext uri="{FF2B5EF4-FFF2-40B4-BE49-F238E27FC236}">
                <a16:creationId xmlns:a16="http://schemas.microsoft.com/office/drawing/2014/main" id="{3E9FF721-230D-0647-9FF9-1FAE0016CCDE}"/>
              </a:ext>
            </a:extLst>
          </p:cNvPr>
          <p:cNvSpPr txBox="1"/>
          <p:nvPr/>
        </p:nvSpPr>
        <p:spPr>
          <a:xfrm>
            <a:off x="5357810" y="3817291"/>
            <a:ext cx="5333536"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Developer</a:t>
            </a:r>
          </a:p>
        </p:txBody>
      </p:sp>
      <p:sp>
        <p:nvSpPr>
          <p:cNvPr id="12" name="TextBox 11">
            <a:extLst>
              <a:ext uri="{FF2B5EF4-FFF2-40B4-BE49-F238E27FC236}">
                <a16:creationId xmlns:a16="http://schemas.microsoft.com/office/drawing/2014/main" id="{8993BEA5-7EB0-744D-A5C0-39F204C3C403}"/>
              </a:ext>
            </a:extLst>
          </p:cNvPr>
          <p:cNvSpPr txBox="1"/>
          <p:nvPr/>
        </p:nvSpPr>
        <p:spPr>
          <a:xfrm>
            <a:off x="1018" y="3821892"/>
            <a:ext cx="5333536" cy="1200329"/>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Ideologically</a:t>
            </a:r>
            <a:br>
              <a:rPr lang="en-GB" sz="3600" dirty="0">
                <a:latin typeface="Phosphate Solid" panose="02000506050000020004"/>
                <a:cs typeface="Phosphate Solid" panose="02000506050000020004" pitchFamily="2" charset="77"/>
              </a:rPr>
            </a:br>
            <a:r>
              <a:rPr lang="en-GB" sz="3600" dirty="0">
                <a:latin typeface="Phosphate Solid" panose="02000506050000020004"/>
                <a:cs typeface="Phosphate Solid" panose="02000506050000020004" pitchFamily="2" charset="77"/>
              </a:rPr>
              <a:t>Motivated Actor</a:t>
            </a:r>
          </a:p>
        </p:txBody>
      </p:sp>
    </p:spTree>
    <p:extLst>
      <p:ext uri="{BB962C8B-B14F-4D97-AF65-F5344CB8AC3E}">
        <p14:creationId xmlns:p14="http://schemas.microsoft.com/office/powerpoint/2010/main" val="4247222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233735-618B-2144-ABE5-D9D9D7E6D1F3}"/>
              </a:ext>
            </a:extLst>
          </p:cNvPr>
          <p:cNvSpPr txBox="1"/>
          <p:nvPr/>
        </p:nvSpPr>
        <p:spPr>
          <a:xfrm>
            <a:off x="5333536" y="246380"/>
            <a:ext cx="5333536"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Disgruntled Employee</a:t>
            </a:r>
            <a:endParaRPr lang="en-GB" sz="1000" dirty="0">
              <a:latin typeface="Phosphate Solid" panose="02000506050000020004"/>
              <a:cs typeface="Phosphate Solid" panose="02000506050000020004" pitchFamily="2" charset="77"/>
            </a:endParaRPr>
          </a:p>
        </p:txBody>
      </p:sp>
      <p:cxnSp>
        <p:nvCxnSpPr>
          <p:cNvPr id="8" name="Straight Connector 7">
            <a:extLst>
              <a:ext uri="{FF2B5EF4-FFF2-40B4-BE49-F238E27FC236}">
                <a16:creationId xmlns:a16="http://schemas.microsoft.com/office/drawing/2014/main" id="{A5438556-2001-BA4D-B158-5057440340D4}"/>
              </a:ext>
            </a:extLst>
          </p:cNvPr>
          <p:cNvCxnSpPr>
            <a:cxnSpLocks/>
          </p:cNvCxnSpPr>
          <p:nvPr/>
        </p:nvCxnSpPr>
        <p:spPr>
          <a:xfrm>
            <a:off x="5333536" y="0"/>
            <a:ext cx="0" cy="7559675"/>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8FD287A-E42E-3B47-8F0D-0DDBC6FFD405}"/>
              </a:ext>
            </a:extLst>
          </p:cNvPr>
          <p:cNvCxnSpPr>
            <a:cxnSpLocks/>
          </p:cNvCxnSpPr>
          <p:nvPr/>
        </p:nvCxnSpPr>
        <p:spPr>
          <a:xfrm>
            <a:off x="0" y="3780000"/>
            <a:ext cx="10691813" cy="0"/>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50FD6B6-5C4C-024D-8382-BB1A9AC53733}"/>
              </a:ext>
            </a:extLst>
          </p:cNvPr>
          <p:cNvSpPr txBox="1"/>
          <p:nvPr/>
        </p:nvSpPr>
        <p:spPr>
          <a:xfrm>
            <a:off x="0" y="4056272"/>
            <a:ext cx="5333536"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Penetration Tester</a:t>
            </a:r>
            <a:endParaRPr lang="en-GB" sz="1000" dirty="0">
              <a:latin typeface="Phosphate Solid" panose="02000506050000020004"/>
              <a:cs typeface="Phosphate Solid" panose="02000506050000020004" pitchFamily="2" charset="77"/>
            </a:endParaRPr>
          </a:p>
        </p:txBody>
      </p:sp>
      <p:sp>
        <p:nvSpPr>
          <p:cNvPr id="11" name="TextBox 10">
            <a:extLst>
              <a:ext uri="{FF2B5EF4-FFF2-40B4-BE49-F238E27FC236}">
                <a16:creationId xmlns:a16="http://schemas.microsoft.com/office/drawing/2014/main" id="{3CDA0A71-AB08-0544-A42A-D1D87FDE34F3}"/>
              </a:ext>
            </a:extLst>
          </p:cNvPr>
          <p:cNvSpPr txBox="1"/>
          <p:nvPr/>
        </p:nvSpPr>
        <p:spPr>
          <a:xfrm>
            <a:off x="5333536" y="4056272"/>
            <a:ext cx="5333536" cy="830997"/>
          </a:xfrm>
          <a:prstGeom prst="rect">
            <a:avLst/>
          </a:prstGeom>
          <a:noFill/>
        </p:spPr>
        <p:txBody>
          <a:bodyPr wrap="square" rtlCol="0">
            <a:spAutoFit/>
          </a:bodyPr>
          <a:lstStyle/>
          <a:p>
            <a:pPr algn="ctr"/>
            <a:r>
              <a:rPr lang="en-GB" sz="4800" dirty="0">
                <a:latin typeface="Phosphate Solid" panose="02000506050000020004"/>
                <a:cs typeface="Phosphate Solid" panose="02000506050000020004" pitchFamily="2" charset="77"/>
              </a:rPr>
              <a:t>Blank</a:t>
            </a:r>
            <a:endParaRPr lang="en-GB" sz="1000" dirty="0">
              <a:latin typeface="Phosphate Solid" panose="02000506050000020004"/>
              <a:cs typeface="Phosphate Solid" panose="02000506050000020004" pitchFamily="2" charset="77"/>
            </a:endParaRPr>
          </a:p>
        </p:txBody>
      </p:sp>
      <p:pic>
        <p:nvPicPr>
          <p:cNvPr id="13" name="Picture 12">
            <a:extLst>
              <a:ext uri="{FF2B5EF4-FFF2-40B4-BE49-F238E27FC236}">
                <a16:creationId xmlns:a16="http://schemas.microsoft.com/office/drawing/2014/main" id="{0D03249E-20B7-C246-B104-819963BE05D4}"/>
              </a:ext>
            </a:extLst>
          </p:cNvPr>
          <p:cNvPicPr>
            <a:picLocks noChangeAspect="1"/>
          </p:cNvPicPr>
          <p:nvPr/>
        </p:nvPicPr>
        <p:blipFill>
          <a:blip r:embed="rId2"/>
          <a:stretch>
            <a:fillRect/>
          </a:stretch>
        </p:blipFill>
        <p:spPr>
          <a:xfrm>
            <a:off x="7096836" y="5393830"/>
            <a:ext cx="1806936" cy="1806936"/>
          </a:xfrm>
          <a:prstGeom prst="rect">
            <a:avLst/>
          </a:prstGeom>
        </p:spPr>
      </p:pic>
      <p:pic>
        <p:nvPicPr>
          <p:cNvPr id="15" name="Graphic 14">
            <a:extLst>
              <a:ext uri="{FF2B5EF4-FFF2-40B4-BE49-F238E27FC236}">
                <a16:creationId xmlns:a16="http://schemas.microsoft.com/office/drawing/2014/main" id="{F744DCC9-FBC2-44C4-AC28-86E16AA99D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16480" y="831521"/>
            <a:ext cx="2672208" cy="2672208"/>
          </a:xfrm>
          <a:prstGeom prst="rect">
            <a:avLst/>
          </a:prstGeom>
        </p:spPr>
      </p:pic>
      <p:pic>
        <p:nvPicPr>
          <p:cNvPr id="17" name="Graphic 16">
            <a:extLst>
              <a:ext uri="{FF2B5EF4-FFF2-40B4-BE49-F238E27FC236}">
                <a16:creationId xmlns:a16="http://schemas.microsoft.com/office/drawing/2014/main" id="{0EFAE8B1-8A9D-4E14-9038-DF5B1F115C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40158" y="27905"/>
            <a:ext cx="4279439" cy="4279439"/>
          </a:xfrm>
          <a:prstGeom prst="rect">
            <a:avLst/>
          </a:prstGeom>
        </p:spPr>
      </p:pic>
      <p:pic>
        <p:nvPicPr>
          <p:cNvPr id="3" name="Picture 2">
            <a:extLst>
              <a:ext uri="{FF2B5EF4-FFF2-40B4-BE49-F238E27FC236}">
                <a16:creationId xmlns:a16="http://schemas.microsoft.com/office/drawing/2014/main" id="{6EC27F17-C70A-41E0-810B-41CD6FC17CC4}"/>
              </a:ext>
            </a:extLst>
          </p:cNvPr>
          <p:cNvPicPr>
            <a:picLocks noChangeAspect="1"/>
          </p:cNvPicPr>
          <p:nvPr/>
        </p:nvPicPr>
        <p:blipFill rotWithShape="1">
          <a:blip r:embed="rId7"/>
          <a:srcRect l="16087" t="13759" r="16195" b="15711"/>
          <a:stretch/>
        </p:blipFill>
        <p:spPr>
          <a:xfrm>
            <a:off x="1473490" y="4697403"/>
            <a:ext cx="2403565" cy="2503363"/>
          </a:xfrm>
          <a:prstGeom prst="rect">
            <a:avLst/>
          </a:prstGeom>
        </p:spPr>
      </p:pic>
      <p:sp>
        <p:nvSpPr>
          <p:cNvPr id="14" name="TextBox 13">
            <a:extLst>
              <a:ext uri="{FF2B5EF4-FFF2-40B4-BE49-F238E27FC236}">
                <a16:creationId xmlns:a16="http://schemas.microsoft.com/office/drawing/2014/main" id="{CD68FDD5-C20E-4A79-B09C-A15836187EF6}"/>
              </a:ext>
            </a:extLst>
          </p:cNvPr>
          <p:cNvSpPr txBox="1"/>
          <p:nvPr/>
        </p:nvSpPr>
        <p:spPr>
          <a:xfrm>
            <a:off x="24741" y="184824"/>
            <a:ext cx="5333536" cy="830997"/>
          </a:xfrm>
          <a:prstGeom prst="rect">
            <a:avLst/>
          </a:prstGeom>
          <a:noFill/>
        </p:spPr>
        <p:txBody>
          <a:bodyPr wrap="square" rtlCol="0">
            <a:spAutoFit/>
          </a:bodyPr>
          <a:lstStyle/>
          <a:p>
            <a:pPr algn="ctr"/>
            <a:r>
              <a:rPr lang="en-GB" sz="4800" dirty="0">
                <a:latin typeface="Phosphate Solid" panose="02000506050000020004"/>
                <a:cs typeface="Phosphate Solid" panose="02000506050000020004" pitchFamily="2" charset="77"/>
              </a:rPr>
              <a:t>Competitor</a:t>
            </a:r>
            <a:endParaRPr lang="en-GB" sz="1200" dirty="0">
              <a:latin typeface="Phosphate Solid" panose="02000506050000020004"/>
              <a:cs typeface="Phosphate Solid" panose="02000506050000020004" pitchFamily="2" charset="77"/>
            </a:endParaRPr>
          </a:p>
        </p:txBody>
      </p:sp>
    </p:spTree>
    <p:extLst>
      <p:ext uri="{BB962C8B-B14F-4D97-AF65-F5344CB8AC3E}">
        <p14:creationId xmlns:p14="http://schemas.microsoft.com/office/powerpoint/2010/main" val="2397118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A06D160A-FDBA-944D-83DA-0A67333C856A}"/>
              </a:ext>
            </a:extLst>
          </p:cNvPr>
          <p:cNvSpPr txBox="1"/>
          <p:nvPr/>
        </p:nvSpPr>
        <p:spPr>
          <a:xfrm>
            <a:off x="-37110" y="460581"/>
            <a:ext cx="5333536" cy="3435465"/>
          </a:xfrm>
          <a:prstGeom prst="rect">
            <a:avLst/>
          </a:prstGeom>
          <a:noFill/>
        </p:spPr>
        <p:txBody>
          <a:bodyPr wrap="square" lIns="360000" tIns="360000" rIns="360000" bIns="360000" rtlCol="0">
            <a:spAutoFit/>
          </a:bodyPr>
          <a:lstStyle/>
          <a:p>
            <a:r>
              <a:rPr lang="en-GB" sz="1600" dirty="0"/>
              <a:t>You’re sick of this place and everything it represents!  You’re tired of the admin, the processes, and the terrible reporting lines!  You’re going to stick it to them and show them how valuable you really are.</a:t>
            </a:r>
          </a:p>
          <a:p>
            <a:endParaRPr lang="en-GB" sz="1600" dirty="0"/>
          </a:p>
          <a:p>
            <a:r>
              <a:rPr lang="en-GB" sz="1600" b="1" dirty="0"/>
              <a:t>You want to:</a:t>
            </a:r>
          </a:p>
          <a:p>
            <a:pPr marL="342900" indent="-342900">
              <a:buFont typeface="Arial" panose="020B0604020202020204" pitchFamily="34" charset="0"/>
              <a:buChar char="•"/>
            </a:pPr>
            <a:r>
              <a:rPr lang="en-GB" sz="1600" dirty="0"/>
              <a:t>Vent your frustration</a:t>
            </a:r>
          </a:p>
          <a:p>
            <a:pPr marL="342900" indent="-342900">
              <a:buFont typeface="Arial" panose="020B0604020202020204" pitchFamily="34" charset="0"/>
              <a:buChar char="•"/>
            </a:pPr>
            <a:r>
              <a:rPr lang="en-GB" sz="1600" dirty="0"/>
              <a:t>Steal internal data for new employers</a:t>
            </a:r>
          </a:p>
          <a:p>
            <a:pPr marL="342900" indent="-342900">
              <a:buFont typeface="Arial" panose="020B0604020202020204" pitchFamily="34" charset="0"/>
              <a:buChar char="•"/>
            </a:pPr>
            <a:r>
              <a:rPr lang="en-GB" sz="1600" dirty="0"/>
              <a:t>Leave yourself a way back in</a:t>
            </a:r>
          </a:p>
          <a:p>
            <a:pPr marL="342900" indent="-342900">
              <a:buFont typeface="Arial" panose="020B0604020202020204" pitchFamily="34" charset="0"/>
              <a:buChar char="•"/>
            </a:pPr>
            <a:endParaRPr lang="en-GB" sz="1600" dirty="0"/>
          </a:p>
          <a:p>
            <a:pPr marL="342900" indent="-342900">
              <a:buFont typeface="Arial" panose="020B0604020202020204" pitchFamily="34" charset="0"/>
              <a:buChar char="•"/>
            </a:pPr>
            <a:endParaRPr lang="en-GB" sz="1600" dirty="0"/>
          </a:p>
        </p:txBody>
      </p:sp>
      <p:cxnSp>
        <p:nvCxnSpPr>
          <p:cNvPr id="15" name="Straight Connector 14">
            <a:extLst>
              <a:ext uri="{FF2B5EF4-FFF2-40B4-BE49-F238E27FC236}">
                <a16:creationId xmlns:a16="http://schemas.microsoft.com/office/drawing/2014/main" id="{D4110720-82F2-5747-8540-DBE1035F1945}"/>
              </a:ext>
            </a:extLst>
          </p:cNvPr>
          <p:cNvCxnSpPr>
            <a:cxnSpLocks/>
          </p:cNvCxnSpPr>
          <p:nvPr/>
        </p:nvCxnSpPr>
        <p:spPr>
          <a:xfrm>
            <a:off x="5333536" y="0"/>
            <a:ext cx="0" cy="7559675"/>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B9395A6-6B40-AC44-B6F7-FF3798161DE3}"/>
              </a:ext>
            </a:extLst>
          </p:cNvPr>
          <p:cNvCxnSpPr>
            <a:cxnSpLocks/>
          </p:cNvCxnSpPr>
          <p:nvPr/>
        </p:nvCxnSpPr>
        <p:spPr>
          <a:xfrm>
            <a:off x="0" y="3780000"/>
            <a:ext cx="10691813" cy="0"/>
          </a:xfrm>
          <a:prstGeom prst="line">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27DE530-1017-BA46-B111-7C34D967BD7B}"/>
              </a:ext>
            </a:extLst>
          </p:cNvPr>
          <p:cNvSpPr txBox="1"/>
          <p:nvPr/>
        </p:nvSpPr>
        <p:spPr>
          <a:xfrm>
            <a:off x="0" y="4657269"/>
            <a:ext cx="5333536" cy="1711916"/>
          </a:xfrm>
          <a:prstGeom prst="rect">
            <a:avLst/>
          </a:prstGeom>
          <a:noFill/>
        </p:spPr>
        <p:txBody>
          <a:bodyPr wrap="square" lIns="360000" tIns="360000" rIns="360000" bIns="360000" rtlCol="0">
            <a:spAutoFit/>
          </a:bodyPr>
          <a:lstStyle/>
          <a:p>
            <a:r>
              <a:rPr lang="en-GB" sz="1600" dirty="0"/>
              <a:t>Description</a:t>
            </a:r>
          </a:p>
          <a:p>
            <a:endParaRPr lang="en-GB" sz="1600" dirty="0"/>
          </a:p>
          <a:p>
            <a:r>
              <a:rPr lang="en-GB" sz="1600" b="1" dirty="0"/>
              <a:t>You want to:</a:t>
            </a:r>
          </a:p>
          <a:p>
            <a:pPr marL="342900" indent="-342900">
              <a:buFont typeface="Arial" panose="020B0604020202020204" pitchFamily="34" charset="0"/>
              <a:buChar char="•"/>
            </a:pPr>
            <a:r>
              <a:rPr lang="en-GB" sz="1600" dirty="0"/>
              <a:t>Do things</a:t>
            </a:r>
          </a:p>
        </p:txBody>
      </p:sp>
      <p:sp>
        <p:nvSpPr>
          <p:cNvPr id="17" name="TextBox 16">
            <a:extLst>
              <a:ext uri="{FF2B5EF4-FFF2-40B4-BE49-F238E27FC236}">
                <a16:creationId xmlns:a16="http://schemas.microsoft.com/office/drawing/2014/main" id="{C95D4E60-2AB6-6347-953D-EC63DAFD9B45}"/>
              </a:ext>
            </a:extLst>
          </p:cNvPr>
          <p:cNvSpPr txBox="1"/>
          <p:nvPr/>
        </p:nvSpPr>
        <p:spPr>
          <a:xfrm>
            <a:off x="5370647" y="460581"/>
            <a:ext cx="5333536" cy="3189244"/>
          </a:xfrm>
          <a:prstGeom prst="rect">
            <a:avLst/>
          </a:prstGeom>
          <a:noFill/>
        </p:spPr>
        <p:txBody>
          <a:bodyPr wrap="square" lIns="360000" tIns="360000" rIns="360000" bIns="360000" rtlCol="0">
            <a:spAutoFit/>
          </a:bodyPr>
          <a:lstStyle/>
          <a:p>
            <a:r>
              <a:rPr lang="en-GB" sz="1600" dirty="0"/>
              <a:t>Tired of copying your competitors’ features after they’ve been released?  Looking for that edge?  </a:t>
            </a:r>
          </a:p>
          <a:p>
            <a:r>
              <a:rPr lang="en-GB" sz="1600" dirty="0"/>
              <a:t>You needn’t invest in R&amp;D when you can just </a:t>
            </a:r>
            <a:r>
              <a:rPr lang="en-GB" sz="1600" i="1" dirty="0"/>
              <a:t>take</a:t>
            </a:r>
            <a:r>
              <a:rPr lang="en-GB" sz="1600" dirty="0"/>
              <a:t> what you need!</a:t>
            </a:r>
          </a:p>
          <a:p>
            <a:endParaRPr lang="en-GB" sz="1600" dirty="0"/>
          </a:p>
          <a:p>
            <a:r>
              <a:rPr lang="en-GB" sz="1600" b="1" dirty="0"/>
              <a:t>You want to:</a:t>
            </a:r>
          </a:p>
          <a:p>
            <a:pPr marL="342900" indent="-342900">
              <a:buFont typeface="Arial" panose="020B0604020202020204" pitchFamily="34" charset="0"/>
              <a:buChar char="•"/>
            </a:pPr>
            <a:r>
              <a:rPr lang="en-GB" sz="1600" dirty="0"/>
              <a:t>Steal intellectual property</a:t>
            </a:r>
          </a:p>
          <a:p>
            <a:pPr marL="342900" indent="-342900">
              <a:buFont typeface="Arial" panose="020B0604020202020204" pitchFamily="34" charset="0"/>
              <a:buChar char="•"/>
            </a:pPr>
            <a:r>
              <a:rPr lang="en-GB" sz="1600" dirty="0"/>
              <a:t>Disrupt/discredit your competitors</a:t>
            </a:r>
          </a:p>
          <a:p>
            <a:pPr marL="342900" indent="-342900">
              <a:buFont typeface="Arial" panose="020B0604020202020204" pitchFamily="34" charset="0"/>
              <a:buChar char="•"/>
            </a:pPr>
            <a:r>
              <a:rPr lang="en-GB" sz="1600" dirty="0"/>
              <a:t>Go to market first</a:t>
            </a:r>
          </a:p>
          <a:p>
            <a:pPr marL="342900" indent="-342900">
              <a:buFont typeface="Arial" panose="020B0604020202020204" pitchFamily="34" charset="0"/>
              <a:buChar char="•"/>
            </a:pPr>
            <a:endParaRPr lang="en-GB" sz="1600" dirty="0"/>
          </a:p>
        </p:txBody>
      </p:sp>
      <p:sp>
        <p:nvSpPr>
          <p:cNvPr id="18" name="TextBox 17">
            <a:extLst>
              <a:ext uri="{FF2B5EF4-FFF2-40B4-BE49-F238E27FC236}">
                <a16:creationId xmlns:a16="http://schemas.microsoft.com/office/drawing/2014/main" id="{73104D5E-89C3-534D-9BD3-327828C0C18A}"/>
              </a:ext>
            </a:extLst>
          </p:cNvPr>
          <p:cNvSpPr txBox="1"/>
          <p:nvPr/>
        </p:nvSpPr>
        <p:spPr>
          <a:xfrm>
            <a:off x="5370647" y="4457192"/>
            <a:ext cx="5333536" cy="3189244"/>
          </a:xfrm>
          <a:prstGeom prst="rect">
            <a:avLst/>
          </a:prstGeom>
          <a:noFill/>
        </p:spPr>
        <p:txBody>
          <a:bodyPr wrap="square" lIns="360000" tIns="360000" rIns="360000" bIns="360000" rtlCol="0">
            <a:spAutoFit/>
          </a:bodyPr>
          <a:lstStyle/>
          <a:p>
            <a:r>
              <a:rPr lang="en-GB" sz="1600" dirty="0"/>
              <a:t>You’re being paid to test this system.  You’re going to report whatever you can find.  If you can’t find anything, you’re going to complain about HTTP headers.</a:t>
            </a:r>
          </a:p>
          <a:p>
            <a:endParaRPr lang="en-GB" sz="1600" dirty="0"/>
          </a:p>
          <a:p>
            <a:r>
              <a:rPr lang="en-GB" sz="1600" b="1" dirty="0"/>
              <a:t>You want to:</a:t>
            </a:r>
          </a:p>
          <a:p>
            <a:pPr marL="342900" indent="-342900">
              <a:buFont typeface="Arial" panose="020B0604020202020204" pitchFamily="34" charset="0"/>
              <a:buChar char="•"/>
            </a:pPr>
            <a:r>
              <a:rPr lang="en-GB" sz="1600" dirty="0"/>
              <a:t>Explore the attack surface</a:t>
            </a:r>
          </a:p>
          <a:p>
            <a:pPr marL="342900" indent="-342900">
              <a:buFont typeface="Arial" panose="020B0604020202020204" pitchFamily="34" charset="0"/>
              <a:buChar char="•"/>
            </a:pPr>
            <a:r>
              <a:rPr lang="en-GB" sz="1600" dirty="0"/>
              <a:t>Find security flaws</a:t>
            </a:r>
          </a:p>
          <a:p>
            <a:pPr marL="342900" indent="-342900">
              <a:buFont typeface="Arial" panose="020B0604020202020204" pitchFamily="34" charset="0"/>
              <a:buChar char="•"/>
            </a:pPr>
            <a:r>
              <a:rPr lang="en-GB" sz="1600" dirty="0"/>
              <a:t>Put off writing the report</a:t>
            </a:r>
          </a:p>
          <a:p>
            <a:pPr marL="342900" indent="-342900">
              <a:buFont typeface="Arial" panose="020B0604020202020204" pitchFamily="34" charset="0"/>
              <a:buChar char="•"/>
            </a:pPr>
            <a:endParaRPr lang="en-GB" sz="1600" dirty="0"/>
          </a:p>
        </p:txBody>
      </p:sp>
      <p:sp>
        <p:nvSpPr>
          <p:cNvPr id="8" name="TextBox 7">
            <a:extLst>
              <a:ext uri="{FF2B5EF4-FFF2-40B4-BE49-F238E27FC236}">
                <a16:creationId xmlns:a16="http://schemas.microsoft.com/office/drawing/2014/main" id="{3410299D-F4AF-1D44-9180-5CF17558C10A}"/>
              </a:ext>
            </a:extLst>
          </p:cNvPr>
          <p:cNvSpPr txBox="1"/>
          <p:nvPr/>
        </p:nvSpPr>
        <p:spPr>
          <a:xfrm>
            <a:off x="5334003" y="-3948"/>
            <a:ext cx="5333536"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Competitor</a:t>
            </a:r>
          </a:p>
        </p:txBody>
      </p:sp>
      <p:sp>
        <p:nvSpPr>
          <p:cNvPr id="9" name="TextBox 8">
            <a:extLst>
              <a:ext uri="{FF2B5EF4-FFF2-40B4-BE49-F238E27FC236}">
                <a16:creationId xmlns:a16="http://schemas.microsoft.com/office/drawing/2014/main" id="{85FE5860-D05B-1E4E-A2B6-D4A27280C83E}"/>
              </a:ext>
            </a:extLst>
          </p:cNvPr>
          <p:cNvSpPr txBox="1"/>
          <p:nvPr/>
        </p:nvSpPr>
        <p:spPr>
          <a:xfrm>
            <a:off x="24274" y="6490"/>
            <a:ext cx="5333536" cy="646331"/>
          </a:xfrm>
          <a:prstGeom prst="rect">
            <a:avLst/>
          </a:prstGeom>
          <a:noFill/>
        </p:spPr>
        <p:txBody>
          <a:bodyPr wrap="square" rtlCol="0">
            <a:spAutoFit/>
          </a:bodyPr>
          <a:lstStyle/>
          <a:p>
            <a:pPr algn="ctr"/>
            <a:r>
              <a:rPr lang="en-GB" sz="3600" dirty="0">
                <a:latin typeface="Phosphate Solid" panose="02000506050000020004"/>
                <a:cs typeface="Phosphate Solid" panose="02000506050000020004" pitchFamily="2" charset="77"/>
              </a:rPr>
              <a:t>Disgruntled Employee</a:t>
            </a:r>
          </a:p>
        </p:txBody>
      </p:sp>
      <p:sp>
        <p:nvSpPr>
          <p:cNvPr id="11" name="TextBox 10">
            <a:extLst>
              <a:ext uri="{FF2B5EF4-FFF2-40B4-BE49-F238E27FC236}">
                <a16:creationId xmlns:a16="http://schemas.microsoft.com/office/drawing/2014/main" id="{3E9FF721-230D-0647-9FF9-1FAE0016CCDE}"/>
              </a:ext>
            </a:extLst>
          </p:cNvPr>
          <p:cNvSpPr txBox="1"/>
          <p:nvPr/>
        </p:nvSpPr>
        <p:spPr>
          <a:xfrm>
            <a:off x="5357810" y="3817291"/>
            <a:ext cx="5333536" cy="646331"/>
          </a:xfrm>
          <a:prstGeom prst="rect">
            <a:avLst/>
          </a:prstGeom>
          <a:noFill/>
        </p:spPr>
        <p:txBody>
          <a:bodyPr wrap="square" rtlCol="0">
            <a:spAutoFit/>
          </a:bodyPr>
          <a:lstStyle/>
          <a:p>
            <a:pPr algn="ctr"/>
            <a:r>
              <a:rPr lang="en-GB" sz="3600" dirty="0">
                <a:latin typeface="Phosphate Solid" panose="02000506050000020004" pitchFamily="2" charset="77"/>
                <a:cs typeface="Phosphate Solid" panose="02000506050000020004" pitchFamily="2" charset="77"/>
              </a:rPr>
              <a:t>Penetration Tester</a:t>
            </a:r>
          </a:p>
        </p:txBody>
      </p:sp>
      <p:sp>
        <p:nvSpPr>
          <p:cNvPr id="12" name="TextBox 11">
            <a:extLst>
              <a:ext uri="{FF2B5EF4-FFF2-40B4-BE49-F238E27FC236}">
                <a16:creationId xmlns:a16="http://schemas.microsoft.com/office/drawing/2014/main" id="{8993BEA5-7EB0-744D-A5C0-39F204C3C403}"/>
              </a:ext>
            </a:extLst>
          </p:cNvPr>
          <p:cNvSpPr txBox="1"/>
          <p:nvPr/>
        </p:nvSpPr>
        <p:spPr>
          <a:xfrm>
            <a:off x="1018" y="3821892"/>
            <a:ext cx="5333536" cy="646331"/>
          </a:xfrm>
          <a:prstGeom prst="rect">
            <a:avLst/>
          </a:prstGeom>
          <a:noFill/>
        </p:spPr>
        <p:txBody>
          <a:bodyPr wrap="square" rtlCol="0">
            <a:spAutoFit/>
          </a:bodyPr>
          <a:lstStyle/>
          <a:p>
            <a:pPr algn="ctr"/>
            <a:r>
              <a:rPr lang="en-GB" sz="3600" dirty="0">
                <a:latin typeface="Phosphate Solid" panose="02000506050000020004" pitchFamily="2" charset="77"/>
                <a:cs typeface="Phosphate Solid" panose="02000506050000020004" pitchFamily="2" charset="77"/>
              </a:rPr>
              <a:t>-------</a:t>
            </a:r>
          </a:p>
        </p:txBody>
      </p:sp>
    </p:spTree>
    <p:extLst>
      <p:ext uri="{BB962C8B-B14F-4D97-AF65-F5344CB8AC3E}">
        <p14:creationId xmlns:p14="http://schemas.microsoft.com/office/powerpoint/2010/main" val="29690007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EEDF50BFAE6B4AB453E3DE688BE369" ma:contentTypeVersion="11" ma:contentTypeDescription="Create a new document." ma:contentTypeScope="" ma:versionID="4b1f26a0c19d282f3164d4ec5ae2b1ac">
  <xsd:schema xmlns:xsd="http://www.w3.org/2001/XMLSchema" xmlns:xs="http://www.w3.org/2001/XMLSchema" xmlns:p="http://schemas.microsoft.com/office/2006/metadata/properties" xmlns:ns2="9625019c-06e8-4cc2-89c8-19419534e101" xmlns:ns3="6ddef3d2-8ea4-4440-92d4-218f3b24ae99" targetNamespace="http://schemas.microsoft.com/office/2006/metadata/properties" ma:root="true" ma:fieldsID="3bdcbbbd0c0b70943ef778256e82b8e8" ns2:_="" ns3:_="">
    <xsd:import namespace="9625019c-06e8-4cc2-89c8-19419534e101"/>
    <xsd:import namespace="6ddef3d2-8ea4-4440-92d4-218f3b24ae9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EventHashCode" minOccurs="0"/>
                <xsd:element ref="ns2:MediaServiceGenerationTime" minOccurs="0"/>
                <xsd:element ref="ns2:MediaServiceAutoTags" minOccurs="0"/>
                <xsd:element ref="ns2:MediaServiceOCR"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25019c-06e8-4cc2-89c8-19419534e1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ddef3d2-8ea4-4440-92d4-218f3b24ae9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0DF304-C16F-4C5F-9FEB-4E599F0C89FE}">
  <ds:schemaRefs>
    <ds:schemaRef ds:uri="http://schemas.microsoft.com/office/2006/metadata/contentType"/>
    <ds:schemaRef ds:uri="http://schemas.microsoft.com/office/2006/metadata/properties/metaAttributes"/>
    <ds:schemaRef ds:uri="http://www.w3.org/2000/xmlns/"/>
    <ds:schemaRef ds:uri="http://www.w3.org/2001/XMLSchema"/>
    <ds:schemaRef ds:uri="9625019c-06e8-4cc2-89c8-19419534e101"/>
    <ds:schemaRef ds:uri="6ddef3d2-8ea4-4440-92d4-218f3b24ae99"/>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309170-2BE6-4FD4-B2F7-E23564E130F3}">
  <ds:schemaRefs>
    <ds:schemaRef ds:uri="http://schemas.microsoft.com/sharepoint/v3/contenttype/forms"/>
  </ds:schemaRefs>
</ds:datastoreItem>
</file>

<file path=customXml/itemProps3.xml><?xml version="1.0" encoding="utf-8"?>
<ds:datastoreItem xmlns:ds="http://schemas.openxmlformats.org/officeDocument/2006/customXml" ds:itemID="{368FBB07-BC78-4C9E-95A1-1654F383B049}">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1545</TotalTime>
  <Words>664</Words>
  <Application>Microsoft Office PowerPoint</Application>
  <PresentationFormat>Custom</PresentationFormat>
  <Paragraphs>104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Phosphate Solid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Broome</dc:creator>
  <cp:lastModifiedBy>Tristan Lawrence</cp:lastModifiedBy>
  <cp:revision>28</cp:revision>
  <cp:lastPrinted>2019-10-08T23:38:26Z</cp:lastPrinted>
  <dcterms:created xsi:type="dcterms:W3CDTF">2018-07-30T03:44:35Z</dcterms:created>
  <dcterms:modified xsi:type="dcterms:W3CDTF">2026-02-16T04:03:21Z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0x01010044EEDF50BFAE6B4AB453E3DE688BE369</vt:lpwstr>
  </property>
</Properties>
</file>